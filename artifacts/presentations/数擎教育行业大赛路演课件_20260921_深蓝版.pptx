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1c48196af4019" /><Relationship Type="http://schemas.openxmlformats.org/officeDocument/2006/relationships/extended-properties" Target="/docProps/app.xml" Id="Rdeafcef4f6804fb2" /><Relationship Type="http://schemas.openxmlformats.org/officeDocument/2006/relationships/officeDocument" Target="/ppt/presentation.xml" Id="R52ba6ddeef504b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6067bd2c004157"/>
  </p:sldMasterIdLst>
  <p:notesMasterIdLst>
    <p:notesMasterId xmlns:r="http://schemas.openxmlformats.org/officeDocument/2006/relationships" r:id="Rec76185659284199"/>
  </p:notesMasterIdLst>
  <p:sldIdLst>
    <p:sldId xmlns:r="http://schemas.openxmlformats.org/officeDocument/2006/relationships" id="256" r:id="R0022400370004df3"/>
    <p:sldId xmlns:r="http://schemas.openxmlformats.org/officeDocument/2006/relationships" id="257" r:id="R2074e73da0b84ff7"/>
    <p:sldId xmlns:r="http://schemas.openxmlformats.org/officeDocument/2006/relationships" id="258" r:id="R058f49515f0d4cbb"/>
    <p:sldId xmlns:r="http://schemas.openxmlformats.org/officeDocument/2006/relationships" id="259" r:id="R255c24b2dea24946"/>
    <p:sldId xmlns:r="http://schemas.openxmlformats.org/officeDocument/2006/relationships" id="260" r:id="Rfec4b73cf1b744bd"/>
    <p:sldId xmlns:r="http://schemas.openxmlformats.org/officeDocument/2006/relationships" id="261" r:id="R4861a2917d074b00"/>
    <p:sldId xmlns:r="http://schemas.openxmlformats.org/officeDocument/2006/relationships" id="262" r:id="R2d9f1ebb07ba4674"/>
    <p:sldId xmlns:r="http://schemas.openxmlformats.org/officeDocument/2006/relationships" id="263" r:id="R4ed3d37fcc054e9e"/>
    <p:sldId xmlns:r="http://schemas.openxmlformats.org/officeDocument/2006/relationships" id="264" r:id="Rd667e071b4cc457a"/>
    <p:sldId xmlns:r="http://schemas.openxmlformats.org/officeDocument/2006/relationships" id="265" r:id="Rbc2082c7403f403d"/>
    <p:sldId xmlns:r="http://schemas.openxmlformats.org/officeDocument/2006/relationships" id="266" r:id="R91422b05a5484506"/>
    <p:sldId xmlns:r="http://schemas.openxmlformats.org/officeDocument/2006/relationships" id="267" r:id="Rf78074bc5b734404"/>
    <p:sldId xmlns:r="http://schemas.openxmlformats.org/officeDocument/2006/relationships" id="268" r:id="R18cd77a6c8d348f2"/>
    <p:sldId xmlns:r="http://schemas.openxmlformats.org/officeDocument/2006/relationships" id="269" r:id="R84bc3430c3f64695"/>
    <p:sldId xmlns:r="http://schemas.openxmlformats.org/officeDocument/2006/relationships" id="270" r:id="Ra327605e6b6840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d51b43760413c" /><Relationship Type="http://schemas.openxmlformats.org/officeDocument/2006/relationships/slideMaster" Target="/ppt/slideMasters/slideMaster1.xml" Id="R266067bd2c004157" /><Relationship Type="http://schemas.openxmlformats.org/officeDocument/2006/relationships/notesMaster" Target="/ppt/notesMasters/notesMaster1.xml" Id="Rec76185659284199" /><Relationship Type="http://schemas.openxmlformats.org/officeDocument/2006/relationships/presProps" Target="/ppt/presProps.xml" Id="Ra496aab583ed49f6" /><Relationship Type="http://schemas.openxmlformats.org/officeDocument/2006/relationships/tableStyles" Target="/ppt/tableStyles.xml" Id="Re1d4e73ab1b8400a" /><Relationship Type="http://schemas.openxmlformats.org/officeDocument/2006/relationships/slide" Target="/ppt/slides/slide1.xml" Id="R0022400370004df3" /><Relationship Type="http://schemas.openxmlformats.org/officeDocument/2006/relationships/slide" Target="/ppt/slides/slide2.xml" Id="R2074e73da0b84ff7" /><Relationship Type="http://schemas.openxmlformats.org/officeDocument/2006/relationships/slide" Target="/ppt/slides/slide3.xml" Id="R058f49515f0d4cbb" /><Relationship Type="http://schemas.openxmlformats.org/officeDocument/2006/relationships/slide" Target="/ppt/slides/slide4.xml" Id="R255c24b2dea24946" /><Relationship Type="http://schemas.openxmlformats.org/officeDocument/2006/relationships/slide" Target="/ppt/slides/slide5.xml" Id="Rfec4b73cf1b744bd" /><Relationship Type="http://schemas.openxmlformats.org/officeDocument/2006/relationships/slide" Target="/ppt/slides/slide6.xml" Id="R4861a2917d074b00" /><Relationship Type="http://schemas.openxmlformats.org/officeDocument/2006/relationships/slide" Target="/ppt/slides/slide7.xml" Id="R2d9f1ebb07ba4674" /><Relationship Type="http://schemas.openxmlformats.org/officeDocument/2006/relationships/slide" Target="/ppt/slides/slide8.xml" Id="R4ed3d37fcc054e9e" /><Relationship Type="http://schemas.openxmlformats.org/officeDocument/2006/relationships/slide" Target="/ppt/slides/slide9.xml" Id="Rd667e071b4cc457a" /><Relationship Type="http://schemas.openxmlformats.org/officeDocument/2006/relationships/slide" Target="/ppt/slides/slide10.xml" Id="Rbc2082c7403f403d" /><Relationship Type="http://schemas.openxmlformats.org/officeDocument/2006/relationships/slide" Target="/ppt/slides/slide11.xml" Id="R91422b05a5484506" /><Relationship Type="http://schemas.openxmlformats.org/officeDocument/2006/relationships/slide" Target="/ppt/slides/slide12.xml" Id="Rf78074bc5b734404" /><Relationship Type="http://schemas.openxmlformats.org/officeDocument/2006/relationships/slide" Target="/ppt/slides/slide13.xml" Id="R18cd77a6c8d348f2" /><Relationship Type="http://schemas.openxmlformats.org/officeDocument/2006/relationships/slide" Target="/ppt/slides/slide14.xml" Id="R84bc3430c3f64695" /><Relationship Type="http://schemas.openxmlformats.org/officeDocument/2006/relationships/slide" Target="/ppt/slides/slide15.xml" Id="Ra327605e6b6840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c696249ac46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45b8db8ee74aac" /><Relationship Type="http://schemas.openxmlformats.org/officeDocument/2006/relationships/notesMaster" Target="/ppt/notesMasters/notesMaster1.xml" Id="Rfed0195efbac4e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c77146adb74e61" /><Relationship Type="http://schemas.openxmlformats.org/officeDocument/2006/relationships/notesMaster" Target="/ppt/notesMasters/notesMaster1.xml" Id="Rd49a31553f144e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fa935ac1e4d65" /><Relationship Type="http://schemas.openxmlformats.org/officeDocument/2006/relationships/notesMaster" Target="/ppt/notesMasters/notesMaster1.xml" Id="R279a604589a0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6023db98664be3" /><Relationship Type="http://schemas.openxmlformats.org/officeDocument/2006/relationships/notesMaster" Target="/ppt/notesMasters/notesMaster1.xml" Id="Rbc25ce32bf41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bba8cd0be4078" /><Relationship Type="http://schemas.openxmlformats.org/officeDocument/2006/relationships/notesMaster" Target="/ppt/notesMasters/notesMaster1.xml" Id="Rae6c979c1d564d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dd2a440784d26" /><Relationship Type="http://schemas.openxmlformats.org/officeDocument/2006/relationships/notesMaster" Target="/ppt/notesMasters/notesMaster1.xml" Id="R51fc43d3ce47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b0946935314ec5" /><Relationship Type="http://schemas.openxmlformats.org/officeDocument/2006/relationships/notesMaster" Target="/ppt/notesMasters/notesMaster1.xml" Id="R0731e3ad7389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13e0c62c1141ec" /><Relationship Type="http://schemas.openxmlformats.org/officeDocument/2006/relationships/notesMaster" Target="/ppt/notesMasters/notesMaster1.xml" Id="Rd2224b3cd4d340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e789ef4a2a44ae" /><Relationship Type="http://schemas.openxmlformats.org/officeDocument/2006/relationships/notesMaster" Target="/ppt/notesMasters/notesMaster1.xml" Id="R01808c2a1b064b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5c243128494e59" /><Relationship Type="http://schemas.openxmlformats.org/officeDocument/2006/relationships/notesMaster" Target="/ppt/notesMasters/notesMaster1.xml" Id="R5a4184b01daf4b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fb2a28b4fe4135" /><Relationship Type="http://schemas.openxmlformats.org/officeDocument/2006/relationships/notesMaster" Target="/ppt/notesMasters/notesMaster1.xml" Id="Ra78af4d4f24a4e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8a4ac443c44f47" /><Relationship Type="http://schemas.openxmlformats.org/officeDocument/2006/relationships/notesMaster" Target="/ppt/notesMasters/notesMaster1.xml" Id="R2616bbf1153944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6881b4e43d4b03" /><Relationship Type="http://schemas.openxmlformats.org/officeDocument/2006/relationships/notesMaster" Target="/ppt/notesMasters/notesMaster1.xml" Id="Rd728f5c76c0842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ed81850069479a" /><Relationship Type="http://schemas.openxmlformats.org/officeDocument/2006/relationships/notesMaster" Target="/ppt/notesMasters/notesMaster1.xml" Id="R8ea82b191ac346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2870b997644c93" /><Relationship Type="http://schemas.openxmlformats.org/officeDocument/2006/relationships/notesMaster" Target="/ppt/notesMasters/notesMaster1.xml" Id="R88e28205640e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开场说明：本课件展示数擎数据智能体如何面向教育行业落地。主线不是讲比赛功能，而是用真实教育场景展示产品能力。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讲解口径：本项目围绕教育数据治理和智能分析展开。三个业务实例覆盖教学质量、课程改进和人才培养结果。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现场操作顺序：先在数据资产中展示数据，再进入指标中心和知识库，最后在智能分析页提问并查看执行记录。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操作准备：将成绩、课程评价、就业质量三类样例表提前放入系统。若现场网络不稳定，保留本地 Excel 作为备用演示数据。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现场话术：成绩分析展示的是数擎对结构化数据的读取、聚合、比较和结论生成能力。重点强调结论能回到数据证据。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操作脚本：先展示数据资产，再切智能分析。提问后不要只看结论，要打开执行记录，让裁判看到系统没有伪造结果。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课程评价讲解重点：不是只算满意度，而是把评价分、成绩、考勤和反馈文本结合起来，输出可落地的课程改进建议。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现场操作建议：先在知识库展示课程评价规则，然后提问。这样能体现系统不是单纯调用模型，而是让模型受业务知识约束。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就业质量分析展示的是跨表综合分析能力。讲解时强调指标口径以学校制度为准，系统负责按口径计算并给出可追溯报告。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现场操作建议：展示专业维度的就业质量排序，再追问某一专业的原因。这样能体现连续追问和上下文能力。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讲解口径：数擎不是聊天机器人，而是受治理的数据智能体。结果必须能回到数据、口径和执行过程。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演示安排：主讲负责串联价值，数据同学负责数据和口径，前端同学负责页面操作，复核同学负责打开执行记录和验证报告。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如果比赛允许 1 小时展示，可把每个场景都完整跑一遍。若只有 20 分钟，重点完整跑成绩分析，课程和就业作为扩展能力展示。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讲解口径：评分不是单看界面好不好看，而是看项目是否来源于真实场景、是否有技能操作、是否有可验证结果和团队协作。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收尾话术：数擎不是一次性演示系统，而是一套可迁移的教育行业数据智能体方案，三个场景可以复制到不同学校和不同专业。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490d783ff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c1a4ed10ce47a4" /><Relationship Type="http://schemas.openxmlformats.org/officeDocument/2006/relationships/slideLayout" Target="/ppt/slideLayouts/slideLayout1.xml" Id="R0475b93e92484b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5b93e92484b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017af141f45de" /><Relationship Type="http://schemas.openxmlformats.org/officeDocument/2006/relationships/image" Target="/ppt/media/image.png" Id="R7c10454ea29b4c25" /><Relationship Type="http://schemas.openxmlformats.org/officeDocument/2006/relationships/notesSlide" Target="/ppt/notesSlides/notesSlide1.xml" Id="Re2158ec0e946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ee4fd5e014c47" /><Relationship Type="http://schemas.openxmlformats.org/officeDocument/2006/relationships/image" Target="/ppt/media/image2.png" Id="Rd016278da8774e19" /><Relationship Type="http://schemas.openxmlformats.org/officeDocument/2006/relationships/notesSlide" Target="/ppt/notesSlides/notesSlide2.xml" Id="Rf80f3db076174b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407f226244a8" /><Relationship Type="http://schemas.openxmlformats.org/officeDocument/2006/relationships/image" Target="/ppt/media/image3.png" Id="Rd6edf89f18e449d6" /><Relationship Type="http://schemas.openxmlformats.org/officeDocument/2006/relationships/notesSlide" Target="/ppt/notesSlides/notesSlide3.xml" Id="Rb9402435fb2246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66b1e820f457f" /><Relationship Type="http://schemas.openxmlformats.org/officeDocument/2006/relationships/image" Target="/ppt/media/image4.png" Id="R3e0cd218390345b5" /><Relationship Type="http://schemas.openxmlformats.org/officeDocument/2006/relationships/notesSlide" Target="/ppt/notesSlides/notesSlide4.xml" Id="Ra6bf38e38ab447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9c0a5e9064d7b" /><Relationship Type="http://schemas.openxmlformats.org/officeDocument/2006/relationships/image" Target="/ppt/media/image5.png" Id="R7804ccedd3f8439f" /><Relationship Type="http://schemas.openxmlformats.org/officeDocument/2006/relationships/notesSlide" Target="/ppt/notesSlides/notesSlide5.xml" Id="R41c9260a4c8d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7d19f32ed4cd5" /><Relationship Type="http://schemas.openxmlformats.org/officeDocument/2006/relationships/image" Target="/ppt/media/image6.png" Id="R38f740775f7d4be1" /><Relationship Type="http://schemas.openxmlformats.org/officeDocument/2006/relationships/notesSlide" Target="/ppt/notesSlides/notesSlide6.xml" Id="Re7599709b77b46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fceeaba342c8" /><Relationship Type="http://schemas.openxmlformats.org/officeDocument/2006/relationships/image" Target="/ppt/media/image7.png" Id="R4b310717243c4d86" /><Relationship Type="http://schemas.openxmlformats.org/officeDocument/2006/relationships/notesSlide" Target="/ppt/notesSlides/notesSlide7.xml" Id="R2dc8cf8845e4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bbfe7ff0d4b49" /><Relationship Type="http://schemas.openxmlformats.org/officeDocument/2006/relationships/image" Target="/ppt/media/image8.png" Id="R9500030ebed54869" /><Relationship Type="http://schemas.openxmlformats.org/officeDocument/2006/relationships/notesSlide" Target="/ppt/notesSlides/notesSlide8.xml" Id="R1696c78d0ef743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e141ff0ae467f" /><Relationship Type="http://schemas.openxmlformats.org/officeDocument/2006/relationships/image" Target="/ppt/media/image9.png" Id="R9d6e99b8dd084db0" /><Relationship Type="http://schemas.openxmlformats.org/officeDocument/2006/relationships/notesSlide" Target="/ppt/notesSlides/notesSlide9.xml" Id="R9a941c13e446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f8c166ead4a21" /><Relationship Type="http://schemas.openxmlformats.org/officeDocument/2006/relationships/image" Target="/ppt/media/image10.png" Id="Rd1b2fea39dc449c3" /><Relationship Type="http://schemas.openxmlformats.org/officeDocument/2006/relationships/notesSlide" Target="/ppt/notesSlides/notesSlide10.xml" Id="Rb24d008c7bcf45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1c2dde0244daf" /><Relationship Type="http://schemas.openxmlformats.org/officeDocument/2006/relationships/image" Target="/ppt/media/image11.png" Id="R2e1843fca21b4b0e" /><Relationship Type="http://schemas.openxmlformats.org/officeDocument/2006/relationships/notesSlide" Target="/ppt/notesSlides/notesSlide11.xml" Id="R57963565eed24b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c3ed958f540fa" /><Relationship Type="http://schemas.openxmlformats.org/officeDocument/2006/relationships/image" Target="/ppt/media/image12.png" Id="Ref3fe77e6da94b4b" /><Relationship Type="http://schemas.openxmlformats.org/officeDocument/2006/relationships/notesSlide" Target="/ppt/notesSlides/notesSlide12.xml" Id="Rdba69e1d9fb440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a2614f1eb4efd" /><Relationship Type="http://schemas.openxmlformats.org/officeDocument/2006/relationships/image" Target="/ppt/media/image13.png" Id="Rb503c494ac864da8" /><Relationship Type="http://schemas.openxmlformats.org/officeDocument/2006/relationships/notesSlide" Target="/ppt/notesSlides/notesSlide13.xml" Id="R3ce6932f3aad4e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351957e6f47ed" /><Relationship Type="http://schemas.openxmlformats.org/officeDocument/2006/relationships/image" Target="/ppt/media/image14.png" Id="R498c66b21f414b35" /><Relationship Type="http://schemas.openxmlformats.org/officeDocument/2006/relationships/notesSlide" Target="/ppt/notesSlides/notesSlide14.xml" Id="R204da14426a040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39f78c1f479b" /><Relationship Type="http://schemas.openxmlformats.org/officeDocument/2006/relationships/image" Target="/ppt/media/image15.png" Id="R868d00f4c66a4229" /><Relationship Type="http://schemas.openxmlformats.org/officeDocument/2006/relationships/notesSlide" Target="/ppt/notesSlides/notesSlide15.xml" Id="R0084ce2aafba4f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7666C-8C75-4A67-8C9B-64424B62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06F29-29D5-4156-9B55-A3EB6E38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2476500"/>
            <a:ext cx="6858000" cy="6858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174B8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D84C7-046A-42B5-902C-4FB71E96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" y="4095750"/>
            <a:ext cx="5334000" cy="5334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123D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D4370-C417-40A4-AFBB-D62B4839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3825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0454ea29b4c25"/>
          <a:stretch xmlns:a="http://schemas.openxmlformats.org/drawingml/2006/main"/>
        </p:blipFill>
        <p:spPr>
          <a:xfrm xmlns:a="http://schemas.openxmlformats.org/drawingml/2006/main">
            <a:off x="7429500" y="15811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2544F-1A87-4E03-A3B2-B762A41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C6227-C268-48E7-AB24-A3C850E9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87982-027B-4ABB-B433-ACB4253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成绩分析、课程评价、就业质量分析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09DB2-DF4A-4ED9-9D0B-0492739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43A01-7CAA-46D3-BBDD-5B56307D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用于国家职业技能大赛新一代信息技术赛道路演展示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8E49D-61A5-4DE6-BFBF-D9A51F4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版本：2026.09</a:t>
            </a:r>
          </a:p>
        </p:txBody>
      </p:sp>
    </p:spTree>
    <p:extLst>
      <p:ext uri="{BB962C8B-B14F-4D97-AF65-F5344CB8AC3E}">
        <p14:creationId xmlns:p14="http://schemas.microsoft.com/office/powerpoint/2010/main" val="1041011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B61B8-267B-474D-A8D5-0F211A4C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2273A-B4C8-459B-8892-B376FEEF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F680C-B808-46C6-80AA-E0DAD01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3BF39-CC7E-4F12-8D50-08193214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04FE6-2B9A-4564-ABCD-D574EA6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E5C1-6749-47A0-ABDD-028698B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67EC-7272-447C-8BB7-51D0FD27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6278da8774e19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F84EB-1D73-4583-A4D8-4CD0E833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C566A-AE06-47C2-8EB6-646A5B3F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01 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A2D98-C228-4300-807B-97591AD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路演定位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8A387-9505-41B6-BC63-CB5FDC75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把教育数据从分散表格转为可追溯的分析结论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7B2CC-7C99-4CC2-BA73-28275996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6641-8EBD-42B3-9452-B16411F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ECCAC-B2C5-4387-8558-180E904C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013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数擎面向业务人员，核心价值是让提问、查询、验证和报告形成闭环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E417-D49C-4273-A87A-4A9428E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F4A65-129C-4623-88EC-277A1D4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场景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18E17-9161-49FC-83A9-83BB274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66444-D15B-4671-98DC-0412FA6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定位学科差异、班级差异和学生个体风险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60F86-4B6A-4890-BA2D-5D4E322C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3E0C5-0EE6-4A08-B98F-605C161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rPr>
              <a:t>场景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2FB9C-0E7F-4528-BF74-6D03DA17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8F397-41D4-4B76-8E4D-11B8D2E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综合评价、成绩、考勤与文本反馈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78A5F-06C0-4D22-8998-702D6016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2CDEC-DAE9-4E02-9403-B9C9EB58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场景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F8A45-EBA2-4AFC-89CC-B2E3D248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338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3E13D-90F0-43C2-AE64-BD01C96F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76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跟踪就业去向、岗位匹配和专业建设成效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3DF9A-B6DF-41FA-89D2-9F8D3DC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路演目标：现场操作产品，而不是播放静态演示</a:t>
            </a:r>
          </a:p>
        </p:txBody>
      </p:sp>
    </p:spTree>
    <p:extLst>
      <p:ext uri="{BB962C8B-B14F-4D97-AF65-F5344CB8AC3E}">
        <p14:creationId xmlns:p14="http://schemas.microsoft.com/office/powerpoint/2010/main" val="1027422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61573D-5BF8-4334-929B-B920E2D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7E8B-7C4E-4C83-B187-2DBE310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07466-425F-4B55-BA92-7A5843D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51D31-A251-4892-B483-76D1D0E7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E1C40-B88F-4C0B-A901-6B02261F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2F3F-72BB-4FD6-83E8-00DB9D6A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F1B33-60BF-45F3-A33D-0EE003AF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df89f18e449d6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00532-7C62-4465-B3BA-AC373E22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D9177-E451-45FC-A71A-0DA9D4C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02 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37255-4311-4DCE-82C2-BD4BC15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标准化展示主线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F4172-42CB-4237-8830-29A68DF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每个业务场景都按同一条产品路径演示，便于裁判判断完整性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E80CE-019D-4F7A-BB9B-C96BF85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D67DF-5EB7-4CE7-B962-EB61ABA6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FF8CE-DAB9-4390-9FFB-B1A6205B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D5A7C-0E15-4C30-9DD1-3FD8D56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BD116-EB7C-48E2-AD21-236B747B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Excel、MySQL 或业务库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03B1-A55F-47B3-8FCD-E590D87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61994-B0AA-4885-9EDD-1D3A8D5D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9A198-D012-4469-A0FE-EE172EB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资产检查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7E41F-9CBF-4E4A-A6CA-13957B9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预览、质量、权限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CEA79-8E44-4847-BD64-F9A66E8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322CA-7E1A-43EC-8E9F-36BD64B7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4F7F6-4C4D-43E8-8756-A896854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口径治理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D73DE-B81E-4F38-9CD9-F78D229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指标中心定义口径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395B9-5234-4D61-88CC-7DC6125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E12CA-C749-4F47-9D67-C49E7C17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3A5C4-EFD2-446D-8572-31912A8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知识补充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A82D8-9F0E-47F6-A98C-4C5AE18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业务规则和背景材料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B3DA7-D653-46C4-A748-6AA0972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1FE0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E93F1-450D-4969-90C7-238A6F8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2DA79-9E86-4350-8377-87707FDE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C0AF29-8DA0-4BD1-9EBD-515B952F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rPr>
              <a:t>自然语言提问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A4309-2468-4035-A349-AAF57DFB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54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0524CA-3343-4D10-A40A-193FBCA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1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770D4-0735-4894-862F-9A50370C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57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可信交付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4F99C-9EE1-4EDF-895F-A8F97B3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71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证据、图表、报告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6DB7F-D89D-47EF-9149-1E77600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这条路径适用于三个行业实例</a:t>
            </a:r>
          </a:p>
        </p:txBody>
      </p:sp>
    </p:spTree>
    <p:extLst>
      <p:ext uri="{BB962C8B-B14F-4D97-AF65-F5344CB8AC3E}">
        <p14:creationId xmlns:p14="http://schemas.microsoft.com/office/powerpoint/2010/main" val="1210641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6FDEAB-37AF-4568-B466-C07732D0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57BAE-1C10-4FA3-9CF1-13F8F558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B9563-52F0-4B5D-8DD1-11CB8DE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28683-0F7F-474B-A5CE-34C00E0F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6D1C5-B1E8-4415-B799-5AD01E96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9A4F5-58F1-4848-9F3B-EB9DC46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D6489-6A3E-44EC-84CB-3F53AFE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cd218390345b5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8D607-4EAF-446A-B1D6-9F666947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AB89-E15B-4F72-941B-ED0790E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03 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AC4EF-EAD3-454B-B9A8-B2AEBF0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数据准备清单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ACC00-8BEA-4BF8-B734-183CCA36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路演前准备四类数据，现场按需接入或选择已接入资产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FE002-00EE-4566-98FD-EE60C79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B88D2-F38E-4536-87FD-475A2A2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60AD0-15E9-4ACF-8E56-DAD0BCD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数据域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2F1EE-5C47-4C06-B11B-258381D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90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FCB7E-410D-458C-AA1A-C9EE481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示例数据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0E1A6-1A1C-470B-9985-42B8B5A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6F759-9C5D-4C48-95A4-C24D588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关键字段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B2503-C67D-4B65-92B0-062092C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BA1D9-76CF-4CDE-92B3-B1F891C0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展示用途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EA333-2A5B-4B37-A914-B1CD36B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8AFA2-A266-48B5-88AF-0189C29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90FC8-2EB6-4C33-A97D-4CE13B7F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098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D6765-E373-46F8-AFF6-B186731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学生成绩、班级、专业、课程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8D4D3-08A4-4F10-9B20-FFD7DB1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DCA34-AE75-42DD-8F94-00D76D1C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学号、课程、分数、班级、学期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ABDD1-78FD-47AA-B928-6182C15E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DEA71-22CC-471C-A8E0-2B49EB8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成绩分布、排名、学业风险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A0FAF-A1B5-45DF-8F3A-E9E34AFD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54EFD-B44C-46D3-BB8C-E3B4C40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BA3B2-0211-4922-8929-F3DF9EA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D7E35-DF7C-4AE3-91EF-9D5A8AA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课程评价、考勤、通过率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64161-A833-485E-9F85-52D149A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5687B-92D7-49A2-88D0-1B03464D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课程、教师、评价项、评分、反馈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D9E2D-8493-4DFF-8589-CE624B76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B71CF0-F92A-43A0-A770-230D718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课程画像、教学改进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E09817-D46A-4759-B78B-8706A5F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1CF2C1-0DAF-4487-82FD-B5B0CA9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DBF2AE-8A87-4AC6-872B-0A2687AE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814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DEDCD8-FC1C-4739-BA8D-1DA977D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就业去向、岗位、薪酬、企业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70695-4F1A-4F03-9FFA-74EEF25E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1BD3E2-CF76-47B9-86E5-86B9928B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专业、单位、岗位、区域、薪酬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F39C3F-AB22-4717-A8D1-81CB9015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2F29B4-B926-4205-A38A-BDD042F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就业质量、专业匹配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D4FA30-5380-4844-AC83-F44EA1D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B95AC2-9841-4DAB-A3ED-F5C6A61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知识域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BF9D03-0B2A-475E-82DA-A51FD739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672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49A5DB-39F4-4974-AD18-04C2634C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评价规则、指标口径、校内制度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6D6312-1A39-47E2-B2BF-CDE3209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C6C112-4228-4D44-B898-0CE95668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006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达标线、分段规则、统计口径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AED94A-5603-425B-9AD1-BCB8AC7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FE1FB5-B011-4E29-8A29-1B3614C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解释结论、约束分析边界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6F07A1-70CD-4CB4-838E-CBEF25B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建议准备 Excel 和 MySQL 两种来源，体现数据接入能力</a:t>
            </a:r>
          </a:p>
        </p:txBody>
      </p:sp>
    </p:spTree>
    <p:extLst>
      <p:ext uri="{BB962C8B-B14F-4D97-AF65-F5344CB8AC3E}">
        <p14:creationId xmlns:p14="http://schemas.microsoft.com/office/powerpoint/2010/main" val="2042513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27971B-1F8C-4E08-BD24-E54C36E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9D573-AA58-42EE-B806-BD88F30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D6819-E248-4694-9D0E-839D5F1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1441B-0534-4332-A610-2DD2443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63893-5544-4035-93FE-17A65A7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57FCA-3ACC-410F-8603-EFD1B5C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867C2-29E6-4DD2-8BDB-E8FA229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4ccedd3f8439f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0E8C6-14FC-462E-BD47-76692F1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BA014-DE9F-42E5-A0EC-63142CB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04 场景一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3165D-4351-4E5C-AC21-2DF13A9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35377-790E-45AC-8306-C768B6F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从成绩分布看到教学问题，从个体成绩定位帮扶对象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03289-8DE8-47B3-B243-E2D65E4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2101F-8665-426C-97A5-BAB194B4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107B4-4196-44D9-BF27-17C37C6D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演示问题：分析语文、数学、英语、历史、政治这几门成绩分布情况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8D469-A681-419E-9575-6B079BC0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49142-EC67-4F7E-B0DE-E600CF3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380D0-8DB5-4E78-B8AD-31E8DC80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8A379-70E8-4DD3-8BE3-8CFB8C0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看整体分布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E9B54-3FDB-4DE1-B0E2-1CC36E45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平均分、最高分、最低分、分数段和离散程度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48702-5825-4C9C-B930-1AED099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3CA34-293D-4424-92CA-49618FF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4335F-20C8-461B-AC18-87FE9D5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83822-689D-473D-BD85-F19A193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看班级差异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6AAC5-0C7D-43AC-9409-635E368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比较班级平均分、排名和异常课程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43BD9-23B9-4186-8470-E856404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D93A2-870E-4A0B-9700-587E50A3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BF79A-070A-4ADF-952D-8B087CF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A2C55F-2BEE-4968-BE0B-9445C5D6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看学生个体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1F780-C6B8-434D-B41D-509A963A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查询指定学号的各科成绩和班级位置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7B2C3-9218-458E-9BC0-8ACC68EA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E9ABA-9490-4DD5-80CF-3B642729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F0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04D65-7E4E-4A1E-AE2D-B00D8DA2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16D9C-451D-4AF9-8B16-3767D803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形成教学建议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3C1E1-0360-4468-AA86-3C57EB61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输出薄弱学科、关注学生和后续辅导建议</a:t>
            </a:r>
          </a:p>
        </p:txBody>
      </p:sp>
    </p:spTree>
    <p:extLst>
      <p:ext uri="{BB962C8B-B14F-4D97-AF65-F5344CB8AC3E}">
        <p14:creationId xmlns:p14="http://schemas.microsoft.com/office/powerpoint/2010/main" val="139255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B03086-BB7E-4744-BAC2-6A0911F3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883DA-1B7E-4375-A646-5B23E434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89BD-1488-4D1C-B836-9A7D5BA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3B76A-3AE0-446E-8F16-4BA15E96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EDE2B-B112-415E-B77F-1243D14F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2A930-6390-4A03-AF39-3ED710C7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808DD-40CE-4C13-8CA5-4912269B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740775f7d4be1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25C4-E03B-4EAF-99BD-A33340D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F4D8C-F5DC-4905-BC5E-CA1836A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04 场景一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1CB48-22FC-466E-9B9C-559DE2F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成绩分析操作流程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11B76-15F9-4B34-894B-7CA815DC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现场操作以一条问题贯穿数据选择、执行记录和报告生成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D614C-A0E2-44BB-B39F-C88933E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D2784-D8CA-4BB1-BFFB-0530A71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098DF-E010-47D0-93FE-B2F728F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86D52-331D-44C0-BBF1-83E117AF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7865F-EEEB-4F72-AD45-652E533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选择数据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AFF13-8942-469B-ACBC-0652762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574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进入数据资产，选择学生成绩数据集或学生库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0BD6A-AADA-4EBA-A761-F8D1EEF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BAFF-C52B-4D8D-B159-2EE6580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8A1AF-A97C-4272-9829-FEF3E12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9CB56-8A7E-4550-9199-8CFD850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检查字段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DB724-DC42-4941-A6E9-66213F2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确认学号、姓名、课程、成绩、班级、学期字段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BCCBD-4B97-4A40-8595-FE3E4275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B0DBA-B3B4-4F16-953A-2993B83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1C75F-EEAF-4950-A04A-81665D8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2FEF2-61DC-45F1-98C5-F3EFCA6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确认口径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B2299-7F51-4A40-A389-2A9B3E2A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在指标中心查看平均分、分数段、班级排名口径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E7EFD-AC44-4162-A59C-A4FE4E8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7217F9-2A93-4211-97B2-8C70DC5A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79D4E-1D67-4478-8B8E-787E20A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9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2939A-A800-4DF6-81E2-01E7899F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62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发起提问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AA77C-43FB-4C7F-AE52-F21A7B0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574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在智能分析输入成绩分布问题，绑定当前数据源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4503F-054A-415C-9482-F2167E79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4EC606-D86B-43CF-AE5C-0F1CB2E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D53629-0FCC-4482-A28E-D011291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8C34BD-C862-4BEC-8765-1A6E322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查看过程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F864B7-7B79-424F-87BB-459CE59E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展开执行记录，查看查询、验证和证据单元格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E1DE90-C5C2-474F-8398-18572B14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386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710B3-9500-4A70-BF72-58914F8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F4EE8F-22AE-45EA-AB66-3D7C3D1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43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D9976F-0BAC-4C13-8890-2AE0B6A3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交付报告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3AB906-E690-4B82-90B5-C8E8BA44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053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切换到详细报告，导出教学质量分析材料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33777-601E-4E1F-8B0E-C5D3BC7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推荐现场问题：查询学号 24040850102 的学生各科成绩，并和班级平均分对比</a:t>
            </a:r>
          </a:p>
        </p:txBody>
      </p:sp>
    </p:spTree>
    <p:extLst>
      <p:ext uri="{BB962C8B-B14F-4D97-AF65-F5344CB8AC3E}">
        <p14:creationId xmlns:p14="http://schemas.microsoft.com/office/powerpoint/2010/main" val="1722823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14F09-F4A6-4B8D-8FE6-C06A9D30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D367A-5037-475A-8522-CF1FEC0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5C0DE-F783-4FE0-9CC0-BA55CA58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1D905-D2D2-42D7-A38F-6911195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43C07-D7D6-435E-85A9-C3404218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2E040-8074-4235-856C-A136EB88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707A2-57A8-4AFF-B353-AEEDE06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10717243c4d86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D768F-8DD0-4254-A25A-CBB9EC0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43F5C-8272-4960-B650-9B09E48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05 场景二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0350F-6DE7-460B-B3BB-EB72246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34B98-7640-442A-AE3B-DCFC412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把问卷评价、成绩结果和课堂过程放在同一张课程画像里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B5259-D2AA-4CEA-95E5-A2290952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D3F34-A7B4-4F87-8D23-83854C4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3C07F-D8D4-4853-A90B-1CB38E90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演示问题：找出评价偏低课程，并说明主要原因和改进建议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4445F-1AD9-4F50-A7A1-DE3BDF8B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E8C2C-497A-49E0-A70C-F14B17CF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分析对象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505C3-C66B-48E7-B5FF-0A196F9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课程画像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B09FE-8245-4F66-903C-5E6BA00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课程满意度、通过率、出勤、作业完成、文本反馈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4B78F-A710-4DBB-BCD6-DF8ECFF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74DE7-BE31-492E-BB56-01D88AD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E6A6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B32B0-3DEE-409F-A164-9F9426C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问题归因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AB529-C486-43F4-BED0-20830F11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区分内容难度、教学节奏、考核方式和学习支持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70EC0-BE8A-4808-A810-3BF6CDB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79679-942C-4294-9F47-BF2298E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交付成果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F33BC-198C-40EF-9850-899E918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改进清单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FD3CC-BB83-4A37-8ABB-06E9822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按课程输出优先级、证据和可执行改进动作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1DF5F-DE09-4E4B-822D-D017C07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课程评价场景强调“定量评分 + 开放文本 + 业务规则”的结合，适合展示知识库检索和指标口径解释能力。</a:t>
            </a:r>
          </a:p>
        </p:txBody>
      </p:sp>
    </p:spTree>
    <p:extLst>
      <p:ext uri="{BB962C8B-B14F-4D97-AF65-F5344CB8AC3E}">
        <p14:creationId xmlns:p14="http://schemas.microsoft.com/office/powerpoint/2010/main" val="1634803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BE3AB6-E4ED-4613-B518-416C33BE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75A4E-A3D5-4246-AFE8-0FB4C9B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AC2EA-AB5A-46C9-B228-D35E7AF0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DF55C-3333-4880-91D2-050E786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9F088-1895-4906-AFE2-55ACFD11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EDD5C-E35E-4CCC-8D07-5D649AC6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44F13-3129-4364-86BD-9A897C62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0030ebed54869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0975D-1D21-4E5D-8C89-3F3DFF86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EC860-0C65-4C12-B60E-D555F619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05 场景二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34C9F-BC76-4173-A810-E708462B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课程评价操作流程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1993F-BA53-4612-9ED8-D931F6A3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课程评价展示指标中心和知识库对 Agent 的约束能力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5975F-A9AA-4922-A3C0-9DF1361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99281-AED1-489D-B4C8-9F0FA5EB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F8B9C-A4C7-4546-8D71-B50006D7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3ED52-2E1B-4C75-B753-EB05281A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00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接入评价数据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809EB-8BF2-45CF-81B7-5A7DAC6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上传课程评价表、考勤表和课程成绩表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401F2-8882-4EF4-8491-11C675F4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7A687-8443-4F77-8CEB-F158138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DDC79-C723-4140-AEA5-B700C92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09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建立课程指标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F580D-CCC2-4062-8981-8D25C60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定义满意度、通过率、到课率、反馈热词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4BC0F-C78B-4878-BDBB-D02CDFC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1BC2B-3385-47DF-A392-1C05EB5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3C40F-116D-4AFE-A9C3-5F6C8CF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19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导入业务规则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A079F-8971-4633-B25F-1C581AF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385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在知识库维护教学评价维度和改进原则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0107B-8A9A-467A-A27A-2F4AFFC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E0E6"/>
          </a:solidFill>
          <a:ln xmlns:a="http://schemas.openxmlformats.org/drawingml/2006/main" w="9525">
            <a:solidFill>
              <a:srgbClr val="1F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64979-A051-4A22-9303-0F2444D6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4D54D-AAA8-4C92-A6AC-C25F8D5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29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提出评价问题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DD3EC-F03F-4CC9-9FCA-69C4513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7304C"/>
                </a:solidFill>
                <a:latin typeface="Microsoft YaHei"/>
                <a:ea typeface="Microsoft YaHei"/>
                <a:cs typeface="Microsoft YaHei"/>
              </a:rPr>
              <a:t>询问哪些课程需要优先改进及原因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4CBD9-A696-44B9-A2FF-81D4890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29E9C-B293-40B1-9020-ACBA736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CF8BEF-9DD7-4DC6-B4AC-4BAFEA35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386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核对证据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F256F-FF2E-4678-BC69-F4D67F7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577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查看引用的评价项、分数、样本量和文本证据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C6FB2-F226-4A51-A0A1-45280A6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3DDF1D-B85E-4FC6-BF56-D8D9B52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FAB465-7043-4B70-84F1-B0B0A12F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48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输出行动建议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6F1217-56D5-4C9D-8E70-1F2B6C3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673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形成课程负责人可执行的改进清单</a:t>
            </a:r>
          </a:p>
        </p:txBody>
      </p:sp>
    </p:spTree>
    <p:extLst>
      <p:ext uri="{BB962C8B-B14F-4D97-AF65-F5344CB8AC3E}">
        <p14:creationId xmlns:p14="http://schemas.microsoft.com/office/powerpoint/2010/main" val="778092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75605-5E1B-4F75-931B-CD9E036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5C01E-6836-461A-A695-723E266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93A5C-1CFF-44CB-BEB8-E103B862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77FC7-B277-4FDF-9380-C31B27A5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52837-7DE4-4736-AB0A-9A2B6F5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BD16A-8D83-4FA6-9E4D-5E7A93A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2FA4A-1DC8-4669-B81E-5BD8E240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99b8dd084db0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ECD63-5CD4-4FA4-B4DE-B6A19AA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D3827-B646-4835-89C1-950AE60C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06 场景三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E1DF9-81F4-47F5-921C-AA0754A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就业质量分析场景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0298B-2AC0-4E16-AB5F-0E9D2B2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用就业结果反推专业建设、课程设置和校企合作质量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E768F-1DD3-444C-91C2-8FF123B4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16C1A-55ED-4744-88DA-A376543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2B5C"/>
          </a:solidFill>
          <a:ln xmlns:a="http://schemas.openxmlformats.org/drawingml/2006/main" w="9525">
            <a:solidFill>
              <a:srgbClr val="2C69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ABB76-876D-43E3-8C84-A578AB1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演示问题：分析各专业就业质量，找出岗位匹配和就业稳定性较弱的专业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7FEC5-8619-4427-AC66-4FB14552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2020B-5E5D-4A78-A58A-2AC1A078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9F97B-E7DD-47D7-AF17-441303B4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10C1A-B512-41B9-9034-A9DC04F1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就业去向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6093A-0939-4D5B-AC80-9797A19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就业、升学、参军、自主创业等毕业去向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AC62C-67B8-422F-846B-B2E46D4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94008-FF38-4C4E-869C-CE4AFB5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E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847E5-379E-42BF-8495-8CD3B040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D2DAB-EA28-412E-A3AC-77E16A1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岗位匹配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2C9CF-0405-49A0-A0EF-A51630D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岗位名称、专业方向和课程能力要求匹配情况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021F4-A7AA-4BAA-9710-B8FA31DC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36A35-124E-4B0F-9C0B-B9120475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3F351-D8FC-4960-ACCE-1E499238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AB6B5-1906-42D9-A80E-8F8267ED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质量指标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3AFF6-4116-4A42-BC3A-B1AE150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就业率、对口率、薪酬区间和区域分布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544D3-712D-4FA3-8076-1887EA3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A7C9A-065A-43F5-80F0-9319660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F0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4F803-96B2-4672-B6D6-52A07D76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876F96-B275-4B71-A971-C8CEB2D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建设建议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04B484-96FC-4236-8CAD-448738CC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专业预警、课程优化和校企合作方向</a:t>
            </a:r>
          </a:p>
        </p:txBody>
      </p:sp>
    </p:spTree>
    <p:extLst>
      <p:ext uri="{BB962C8B-B14F-4D97-AF65-F5344CB8AC3E}">
        <p14:creationId xmlns:p14="http://schemas.microsoft.com/office/powerpoint/2010/main" val="98436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3F507-9B13-4F59-8832-8189E9A6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4FB83-3A85-43EE-BD1C-5492651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3D40F-08ED-4407-B617-BCF144D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16897-47F8-4EAE-80E2-A044CFA0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5EC65-79B8-41B3-8B98-93814C5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0FE42-2AC1-4B23-BF87-D0F15AD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ADF55-7221-4BB6-B55D-7AA98C27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2fea39dc449c3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B5983-FC9A-4DF7-AA7E-AF91A55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B9597-2564-4CA0-99A9-C15B722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06 场景三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690B0-16FD-445A-A471-D9756334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就业质量操作流程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6CA4-1D33-484D-BA7D-FCAF7900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就业质量场景适合作为路演收束，体现应用价值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ECB05-070D-4F68-989D-D403A75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A8100-AC80-482B-8D44-1106FE1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30B7B-B551-4849-9BD3-1764795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C8EB6-BBF0-4817-9A20-8FD21AEF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9ECA9-BF16-4627-9134-C831AD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准备数据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97C2B-8F18-4F4B-8B6A-DD7BFDF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622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毕业生基础信息、就业单位、岗位、薪酬、专业和课程数据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CE828-16E2-48C7-8898-CC6593A0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7F978-8D37-44AB-9D2E-4357B31B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7ACD2-B273-4C30-92AA-28760C15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56BA1-18E5-474D-AB1F-837F6D8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配置口径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7168E-B3A1-4D00-92A0-927E611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就业率、对口率、稳定就业、重点单位等口径以学校规则为准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3718C-3BF3-4289-AE3B-C28399EF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70216-8664-4E1D-8C9B-882316D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98625-6369-4A7E-A5CB-258786C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12929-CC98-4C80-86F9-91A7F9EF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选择维度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F4F22-E88D-4DB3-9C62-DD3473F2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43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按专业、班级、区域、单位类型和岗位类别分组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0B799-60FB-43DA-9E45-40B2DA2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99E20-82D2-4103-898E-B69E873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6F023-7548-41E3-BB1B-CFBAFA2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392087-4234-412F-9EE5-864CDE0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发起分析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8B981-EFE6-4563-8461-DA43DFE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输入就业质量问题，要求输出专业排名和风险说明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CA71FC-CE1D-4954-9C48-D759D7FA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9895A0-077A-4909-BE71-FE05C1FD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024686-6E86-444F-997D-2BA7B310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4280AC-C3E4-4133-A2C3-F4F7EB4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复核结果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ED5ED3-D466-448F-8FB1-A348286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244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核对计算字段、样本范围、过滤条件和证据表格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1816A-9741-4C69-9294-ABB7309A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577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34F"/>
          </a:solidFill>
          <a:ln xmlns:a="http://schemas.openxmlformats.org/drawingml/2006/main" w="9525">
            <a:solidFill>
              <a:srgbClr val="1B4F8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FF7A47-B16A-44C9-BCB6-2CFEB85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FC5B0A-F1B4-41C1-A187-8D2E633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3CBF19-9D4E-46F8-9637-A935494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形成建议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79494C-EE00-4286-AE8C-BCA11AC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244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输出专业建设、课程调整和校企合作建议</a:t>
            </a:r>
          </a:p>
        </p:txBody>
      </p:sp>
    </p:spTree>
    <p:extLst>
      <p:ext uri="{BB962C8B-B14F-4D97-AF65-F5344CB8AC3E}">
        <p14:creationId xmlns:p14="http://schemas.microsoft.com/office/powerpoint/2010/main" val="1576346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617A7-A238-4B0A-872B-8F4E26A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DC58-FF1B-4923-B98C-4235DE4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6A73A-0BBB-4EE3-B17D-CDE0C94B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4E87F-0B0D-4890-8197-3EB3DE13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B6DE5-9B9E-4A03-9519-F258E3A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19E12-59AA-4088-B4AB-37A93CF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97BAC-7CB3-4887-BF94-63A67005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843fca21b4b0e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B53BA-1468-44B2-ABCB-98655A6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08AAA-79DF-4DC3-9C56-A79D174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07 可信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8450-C94D-49A1-97E4-194FBC1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可信智能体机制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A61E8-6F7A-4F2C-A0D1-D7CE64F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大赛展示中要强调系统不会生成未经验证的成果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BB14A-6E27-4D38-807A-CFC6ED3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ACD7B-816C-4E9D-80C3-72DC2649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CA792-E550-4620-867C-345D8DFC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D5D5E-7B80-4A25-BD6F-9E8CBD3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受控数据接入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15ECB-835A-478C-B640-BC3830E3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数据源授权、表范围限制、只读查询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699A2-9D36-49D7-9086-A1A578E3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83E35-17CF-4F25-A9EF-37A2380B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BBA82-DECC-4ECC-8FB4-E2AB5153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语义口径约束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08DBD-D813-4CC9-AB6C-4648D4F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指标中心定义字段、维度和计算口径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8807D-3672-41FF-8D20-8E289592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1EFA9-A0FC-4AF3-9CAD-2171799D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E0E6"/>
                </a:solidFill>
                <a:latin typeface="Microsoft YaHei"/>
                <a:ea typeface="Microsoft YaHei"/>
                <a:cs typeface="Microsoft YaHei"/>
              </a:rPr>
              <a:t>能力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2597F-094D-44EE-B26F-D75B96B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执行过程可见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4C7BC-50CA-46D5-AEF3-39A9120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问题拆解、SQL、工具调用和事件记录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41344-A0AA-4118-BA20-B3025FED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34D8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62D71-246D-4C85-9AB8-67EE725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527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能力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1C271-20EA-46D1-9AAA-AE218CB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194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发布前校验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9FD19-4D75-4858-A62A-B7498E81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证据不足或工具失败时阻止导出成果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E737B-5E37-48FD-8B66-0302A77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现场演示要主动打开执行记录。评委看到的不只是结论，还包括数据来源、计算过程和发布校验。</a:t>
            </a:r>
          </a:p>
        </p:txBody>
      </p:sp>
    </p:spTree>
    <p:extLst>
      <p:ext uri="{BB962C8B-B14F-4D97-AF65-F5344CB8AC3E}">
        <p14:creationId xmlns:p14="http://schemas.microsoft.com/office/powerpoint/2010/main" val="959504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E1553-5749-4BC9-91CC-5110925D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6520-8E2F-4857-A009-0987385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C78AD-255A-4C92-A327-BB175EE6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A0CF5-E2D7-43D8-8ECB-02876D9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A9AA9-B77D-4866-A3F1-BF28609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7A49-B891-4577-8706-54E3B75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0EB60-93A5-4719-8242-4B6B1C8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fe77e6da94b4b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D85C1-F775-4226-BE97-C9999D9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85E05-4B09-4FAD-89B2-E22801C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08 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B0B25-EC1A-4603-BB27-D5BDCA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现场角色分工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4552E-0390-4182-A0F4-2A21C16D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四个角色对应真实工作岗位，展示团队协作能力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736FA-784C-4E00-A805-CCAF69D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41370-8254-4534-8EB3-53055403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399CA-933B-4C8C-9B3E-6531787F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99DF7-E6D9-420D-B22E-988A435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产品经理 / 解决方案经理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1CBAC-15F9-4020-87A8-B1B30954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说明场景、痛点、产品价值和演示主线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EE026-80AF-4F2D-9BDC-D13132A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A87C5-2664-404A-8D53-2B1AFAB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0F379-8135-45C8-A2F3-84ACCD4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数据工程师 / 数据分析师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3EF6C-71EE-45A5-9136-D24796F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接入数据、解释字段、维护指标口径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37C62-6901-474A-8689-41DACCB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C587A-73D1-4440-9DD6-C33BCAC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D89C0-8F77-4724-A41E-FFC597CB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前端工程师 / 全栈工程师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B6729-530A-4544-BC28-2BCA94A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完成系统操作、提问、图表和报告展示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63F2E-9C70-486D-B14A-4F07DD59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333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244B7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4239A-6EA9-4735-86C1-20A17F4E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F8230-CA48-4147-9DE8-EE030D4C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测试工程师 / 数据治理专员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31329-A0E6-4601-9CE0-EC26683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核验证据、权限、失败保护和报告可信度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9066E6-38A2-4554-9000-66063ABD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24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A0D4"/>
                </a:solidFill>
                <a:latin typeface="Microsoft YaHei"/>
                <a:ea typeface="Microsoft YaHei"/>
                <a:cs typeface="Microsoft YaHei"/>
              </a:rPr>
              <a:t>建议每人负责一段实操，避免全程由一人演示</a:t>
            </a:r>
          </a:p>
        </p:txBody>
      </p:sp>
    </p:spTree>
    <p:extLst>
      <p:ext uri="{BB962C8B-B14F-4D97-AF65-F5344CB8AC3E}">
        <p14:creationId xmlns:p14="http://schemas.microsoft.com/office/powerpoint/2010/main" val="1312916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E552C7-5FCE-46E8-A069-8379917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2ED27-DE20-4E64-9D13-F43F7B0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7C8AE-9488-4338-BD67-8479623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AB5F0-08A8-4964-A7D5-78510B8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6E9E0-D954-489B-B69C-8E843F4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0573E-67F8-45E0-8197-BCB55564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AC67E-2F44-425E-A051-269823C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3c494ac864da8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AF5DC-E340-4C9E-BA07-452A01D3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2F1C4-6BAE-4279-8F7B-089CA08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09 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E0CDF-6F41-46A2-AFFE-CA43FB63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20 分钟现场演示脚本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F4FC0-1F07-4333-9709-6404673B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时间分配要服务于实操，不要把路演做成纯汇报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3FC0E-A118-450E-A2F3-1C213BC0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967F7-88E8-4BE7-A6D5-562095C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5A57F-3341-46D3-A904-8BFEE078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674E-4D23-4A5A-ADCB-C089C5D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69652-971D-44FE-B773-2EBF611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0 至 2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0B6BC-484B-44CD-8B43-FE26E66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6E3C7-1471-4C7E-9987-5B9A7F3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说明教育数据痛点和三个分析场景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CC33D-95CA-43EF-9DA2-4B53482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D2D53-3E5B-4E20-B8E3-E44C91E8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54BE3-07E7-420B-AFB1-B65EC25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38C62-1EEC-4E17-A145-6ED7675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2 至 6 分钟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B72D7-B5FE-46E1-90BD-1EE1A0E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5A280-0F62-4E59-A27F-BCDFBB0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展示数据资产、预览和权限范围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B7BE-32FA-44DC-8ACA-AF3BFAE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88773-29C9-4984-9BFA-D9FED8D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38F9A-1D53-47E5-8ED5-0EB3034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4D9BE-4851-4007-8AC6-2358078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6 至 9 分钟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B5BD7-D121-4448-AD3C-E0F6A27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口径治理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4EC4B-69F4-4B65-AD8D-DF433EA0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展示指标中心和知识库规则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140E6-4705-4737-BB83-02AE3DEA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0E6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0DC9F-0D3A-4996-9237-5C370E2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C9A0DB-8A2A-401D-BE4E-FDFC18F6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2478CB-2EE3-487D-BA6B-669DFFD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9 至 15 分钟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18F42-5302-4039-98FA-97EE072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5C154-A956-4A79-816F-75A5EFD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完成成绩分析并查看执行记录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83626C-A7A8-4589-9739-E92AFDA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1B413-84D5-4964-95A3-BEA659F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05075-B3D0-471F-BDB5-8F55BD6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1CADDB-AC5A-4EB8-AFA0-15A754FD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15 至 18 分钟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76D27C-6DA3-4BD0-9C2E-3A513A08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14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F7BB4C-E0CC-4A49-A4A2-8606B66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快速展示课程评价和就业质量分析路径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9CBFAA-D3AB-46B6-B87D-0C8655A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78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2B014E-5460-4274-85AA-B60E753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91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7E26FE-985F-4608-A622-28A97AF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F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A4B989-9812-47A5-96FF-854C386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18 至 20 分钟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A93814-0074-4561-8720-49A408E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可信交付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29FF4C-E0B3-4419-8291-EDC48AC1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展示报告、证据和失败保护机制</a:t>
            </a:r>
          </a:p>
        </p:txBody>
      </p:sp>
    </p:spTree>
    <p:extLst>
      <p:ext uri="{BB962C8B-B14F-4D97-AF65-F5344CB8AC3E}">
        <p14:creationId xmlns:p14="http://schemas.microsoft.com/office/powerpoint/2010/main" val="147087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9D3EC-ED01-4AFD-BF7E-FEA87F86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6B550-BD0A-4116-A1A0-B060F7C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26373-91F0-45B2-9018-E65084E4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EB72-4DA7-4F93-BB65-1A70D7A9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F8A4A-406B-4B39-B5CE-E85CB9D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809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123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F304-7A52-4714-86BF-1A49D4C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4095750"/>
            <a:ext cx="49530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F3D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E5665-8EF7-49D1-B53F-C0690DFC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552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c66b21f414b35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295AF-F118-4729-B4CA-0D9A122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数擎 Data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2F448-0E6C-4099-B058-5863AC3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10 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3339F-8D54-4499-BFBA-8B8DD4E6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评分关注点与展示证据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1BEF2-893E-4647-8501-5AC6D6A1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把裁判关注点转化为现场可见材料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CB39D-76C7-4E65-9204-E65A1E78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8D3"/>
                </a:solidFill>
                <a:latin typeface="Microsoft YaHei"/>
                <a:ea typeface="Microsoft YaHei"/>
                <a:cs typeface="Microsoft YaHei"/>
              </a:rPr>
              <a:t>教育行业标准化路演方案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CA613-15E4-4D1C-BC73-596E19BB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3D77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0E085-8CF0-4AD4-91B1-8480B03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技能水平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42996-9484-465D-BA16-F4275528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现场数据接入、SQL 生成、执行记录和报告导出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5A831-0770-433A-8A88-79B1B10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8C48D-70B0-45CF-8000-A0B09E84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2FB5A-32DD-4B42-90E7-EB2BA4C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教学质量、课程改进和就业质量三类真实问题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E5F7F-F855-4A49-AFB0-33A6A59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43651-DE08-4BFB-83CD-353F877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职业素养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0F30E-2EA8-4134-BA93-7C03A47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权限、只读查询、审计记录和知识产权说明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0936C-5B60-4618-90D4-6AABE8B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2E82E-10E5-4119-A63F-570F2F73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团队合作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CCBE3-4344-49EF-A757-3D40F8C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主讲、数据、前端、复核分工清晰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959BE-7336-48A3-99AF-1B9DED68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2A5C"/>
          </a:solidFill>
          <a:ln xmlns:a="http://schemas.openxmlformats.org/drawingml/2006/main" w="9525">
            <a:solidFill>
              <a:srgbClr val="315A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871E1-FEBB-4BE9-99A5-1CB06325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创新创意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491ED-FE98-444B-AEC2-1F4EE5CE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指标中心、知识库和可信 Agent 组合应用</a:t>
            </a:r>
          </a:p>
        </p:txBody>
      </p:sp>
    </p:spTree>
    <p:extLst>
      <p:ext uri="{BB962C8B-B14F-4D97-AF65-F5344CB8AC3E}">
        <p14:creationId xmlns:p14="http://schemas.microsoft.com/office/powerpoint/2010/main" val="2767661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E28CC-82F7-44CF-B261-5CA3B436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9628D-F69D-469E-9E4F-0494FC3F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2381250"/>
            <a:ext cx="6858000" cy="6858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174B8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94EE8-C53F-4716-9287-E963329F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85800"/>
            <a:ext cx="30861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d00f4c66a4229"/>
          <a:stretch xmlns:a="http://schemas.openxmlformats.org/drawingml/2006/main"/>
        </p:blipFill>
        <p:spPr>
          <a:xfrm xmlns:a="http://schemas.openxmlformats.org/drawingml/2006/main">
            <a:off x="4857750" y="952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E4C8F-36E6-4CBB-897B-0022B87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一套产品，三类教育场景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5D5CA-E547-4ECA-9BB5-4B44C96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C7E6"/>
                </a:solidFill>
                <a:latin typeface="Microsoft YaHei"/>
                <a:ea typeface="Microsoft YaHei"/>
                <a:cs typeface="Microsoft YaHei"/>
              </a:rPr>
              <a:t>成绩分析用于发现学业风险，课程评价用于改进教学过程，就业质量分析用于验证人才培养结果。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BF859-9712-45F6-B0A9-45F7E92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1F0F2"/>
                </a:solidFill>
                <a:latin typeface="Microsoft YaHei"/>
                <a:ea typeface="Microsoft YaHei"/>
                <a:cs typeface="Microsoft YaHei"/>
              </a:rPr>
              <a:t>数擎 Data Agent：让每一个分析结论都能回到数据证据</a:t>
            </a:r>
          </a:p>
        </p:txBody>
      </p:sp>
    </p:spTree>
    <p:extLst>
      <p:ext uri="{BB962C8B-B14F-4D97-AF65-F5344CB8AC3E}">
        <p14:creationId xmlns:p14="http://schemas.microsoft.com/office/powerpoint/2010/main" val="1659824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2026-09-21T11:46:56.5300000Z</dcterms:created>
  <dcterms:modified xsi:type="dcterms:W3CDTF">2026-09-21T11:46:56.5300000Z</dcterms:modified>
</coreProperties>
</file>