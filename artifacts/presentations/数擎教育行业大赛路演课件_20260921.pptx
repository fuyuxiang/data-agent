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de6856a70d4d13" /><Relationship Type="http://schemas.openxmlformats.org/officeDocument/2006/relationships/extended-properties" Target="/docProps/app.xml" Id="R5b2ac62e9e634de5" /><Relationship Type="http://schemas.openxmlformats.org/officeDocument/2006/relationships/officeDocument" Target="/ppt/presentation.xml" Id="Rc8d726db92ff4c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2048e32ef4404"/>
  </p:sldMasterIdLst>
  <p:notesMasterIdLst>
    <p:notesMasterId xmlns:r="http://schemas.openxmlformats.org/officeDocument/2006/relationships" r:id="R51d1179986d1423a"/>
  </p:notesMasterIdLst>
  <p:sldIdLst>
    <p:sldId xmlns:r="http://schemas.openxmlformats.org/officeDocument/2006/relationships" id="256" r:id="Rb5bbf0b079ba4f74"/>
    <p:sldId xmlns:r="http://schemas.openxmlformats.org/officeDocument/2006/relationships" id="257" r:id="Rf95c8829ff6f45a1"/>
    <p:sldId xmlns:r="http://schemas.openxmlformats.org/officeDocument/2006/relationships" id="258" r:id="R8959986275d449b6"/>
    <p:sldId xmlns:r="http://schemas.openxmlformats.org/officeDocument/2006/relationships" id="259" r:id="R6e986e175e2041d6"/>
    <p:sldId xmlns:r="http://schemas.openxmlformats.org/officeDocument/2006/relationships" id="260" r:id="R442d9aed2941499e"/>
    <p:sldId xmlns:r="http://schemas.openxmlformats.org/officeDocument/2006/relationships" id="261" r:id="R5e5a1f4e6ecb4613"/>
    <p:sldId xmlns:r="http://schemas.openxmlformats.org/officeDocument/2006/relationships" id="262" r:id="Rb2eaa5deb0c3404e"/>
    <p:sldId xmlns:r="http://schemas.openxmlformats.org/officeDocument/2006/relationships" id="263" r:id="R173db35c9abd4a37"/>
    <p:sldId xmlns:r="http://schemas.openxmlformats.org/officeDocument/2006/relationships" id="264" r:id="Rc597ae2698b34a3b"/>
    <p:sldId xmlns:r="http://schemas.openxmlformats.org/officeDocument/2006/relationships" id="265" r:id="Rea35de4dbe224bf4"/>
    <p:sldId xmlns:r="http://schemas.openxmlformats.org/officeDocument/2006/relationships" id="266" r:id="R8455b92705bb41e3"/>
    <p:sldId xmlns:r="http://schemas.openxmlformats.org/officeDocument/2006/relationships" id="267" r:id="R4334c74fcba24aaf"/>
    <p:sldId xmlns:r="http://schemas.openxmlformats.org/officeDocument/2006/relationships" id="268" r:id="Rba4131ea420c4872"/>
    <p:sldId xmlns:r="http://schemas.openxmlformats.org/officeDocument/2006/relationships" id="269" r:id="R8980d9ca725a45f6"/>
    <p:sldId xmlns:r="http://schemas.openxmlformats.org/officeDocument/2006/relationships" id="270" r:id="R99ad4080a28f4a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22e65574b74b54" /><Relationship Type="http://schemas.openxmlformats.org/officeDocument/2006/relationships/slideMaster" Target="/ppt/slideMasters/slideMaster1.xml" Id="Rbab2048e32ef4404" /><Relationship Type="http://schemas.openxmlformats.org/officeDocument/2006/relationships/notesMaster" Target="/ppt/notesMasters/notesMaster1.xml" Id="R51d1179986d1423a" /><Relationship Type="http://schemas.openxmlformats.org/officeDocument/2006/relationships/presProps" Target="/ppt/presProps.xml" Id="R024e2114558d4535" /><Relationship Type="http://schemas.openxmlformats.org/officeDocument/2006/relationships/tableStyles" Target="/ppt/tableStyles.xml" Id="Re4962082fb494f6b" /><Relationship Type="http://schemas.openxmlformats.org/officeDocument/2006/relationships/slide" Target="/ppt/slides/slide1.xml" Id="Rb5bbf0b079ba4f74" /><Relationship Type="http://schemas.openxmlformats.org/officeDocument/2006/relationships/slide" Target="/ppt/slides/slide2.xml" Id="Rf95c8829ff6f45a1" /><Relationship Type="http://schemas.openxmlformats.org/officeDocument/2006/relationships/slide" Target="/ppt/slides/slide3.xml" Id="R8959986275d449b6" /><Relationship Type="http://schemas.openxmlformats.org/officeDocument/2006/relationships/slide" Target="/ppt/slides/slide4.xml" Id="R6e986e175e2041d6" /><Relationship Type="http://schemas.openxmlformats.org/officeDocument/2006/relationships/slide" Target="/ppt/slides/slide5.xml" Id="R442d9aed2941499e" /><Relationship Type="http://schemas.openxmlformats.org/officeDocument/2006/relationships/slide" Target="/ppt/slides/slide6.xml" Id="R5e5a1f4e6ecb4613" /><Relationship Type="http://schemas.openxmlformats.org/officeDocument/2006/relationships/slide" Target="/ppt/slides/slide7.xml" Id="Rb2eaa5deb0c3404e" /><Relationship Type="http://schemas.openxmlformats.org/officeDocument/2006/relationships/slide" Target="/ppt/slides/slide8.xml" Id="R173db35c9abd4a37" /><Relationship Type="http://schemas.openxmlformats.org/officeDocument/2006/relationships/slide" Target="/ppt/slides/slide9.xml" Id="Rc597ae2698b34a3b" /><Relationship Type="http://schemas.openxmlformats.org/officeDocument/2006/relationships/slide" Target="/ppt/slides/slide10.xml" Id="Rea35de4dbe224bf4" /><Relationship Type="http://schemas.openxmlformats.org/officeDocument/2006/relationships/slide" Target="/ppt/slides/slide11.xml" Id="R8455b92705bb41e3" /><Relationship Type="http://schemas.openxmlformats.org/officeDocument/2006/relationships/slide" Target="/ppt/slides/slide12.xml" Id="R4334c74fcba24aaf" /><Relationship Type="http://schemas.openxmlformats.org/officeDocument/2006/relationships/slide" Target="/ppt/slides/slide13.xml" Id="Rba4131ea420c4872" /><Relationship Type="http://schemas.openxmlformats.org/officeDocument/2006/relationships/slide" Target="/ppt/slides/slide14.xml" Id="R8980d9ca725a45f6" /><Relationship Type="http://schemas.openxmlformats.org/officeDocument/2006/relationships/slide" Target="/ppt/slides/slide15.xml" Id="R99ad4080a28f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ca314beb2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4df63ce364e1f" /><Relationship Type="http://schemas.openxmlformats.org/officeDocument/2006/relationships/notesMaster" Target="/ppt/notesMasters/notesMaster1.xml" Id="Ra3d628625ddf43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38ab520fbd4111" /><Relationship Type="http://schemas.openxmlformats.org/officeDocument/2006/relationships/notesMaster" Target="/ppt/notesMasters/notesMaster1.xml" Id="Rf2fb812096f9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caecd858b401b" /><Relationship Type="http://schemas.openxmlformats.org/officeDocument/2006/relationships/notesMaster" Target="/ppt/notesMasters/notesMaster1.xml" Id="R4b025367aba1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13e13283642e0" /><Relationship Type="http://schemas.openxmlformats.org/officeDocument/2006/relationships/notesMaster" Target="/ppt/notesMasters/notesMaster1.xml" Id="Ra6e79331dee8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b3598359145b5" /><Relationship Type="http://schemas.openxmlformats.org/officeDocument/2006/relationships/notesMaster" Target="/ppt/notesMasters/notesMaster1.xml" Id="R6b5e959f0f3c4a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8381bc6d2b4083" /><Relationship Type="http://schemas.openxmlformats.org/officeDocument/2006/relationships/notesMaster" Target="/ppt/notesMasters/notesMaster1.xml" Id="R161f29b232e74a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fcbe1226764eb4" /><Relationship Type="http://schemas.openxmlformats.org/officeDocument/2006/relationships/notesMaster" Target="/ppt/notesMasters/notesMaster1.xml" Id="Rd3797ff3052f4f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922c61bdc941d4" /><Relationship Type="http://schemas.openxmlformats.org/officeDocument/2006/relationships/notesMaster" Target="/ppt/notesMasters/notesMaster1.xml" Id="R2ca814b016d146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d2696a2e774905" /><Relationship Type="http://schemas.openxmlformats.org/officeDocument/2006/relationships/notesMaster" Target="/ppt/notesMasters/notesMaster1.xml" Id="R3a848b68ef2243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f5780f74a64897" /><Relationship Type="http://schemas.openxmlformats.org/officeDocument/2006/relationships/notesMaster" Target="/ppt/notesMasters/notesMaster1.xml" Id="Ra43dd4b6ac1b49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f105e99cfd49fe" /><Relationship Type="http://schemas.openxmlformats.org/officeDocument/2006/relationships/notesMaster" Target="/ppt/notesMasters/notesMaster1.xml" Id="R6832f76d6e8c4c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1c93ba7fbb49a4" /><Relationship Type="http://schemas.openxmlformats.org/officeDocument/2006/relationships/notesMaster" Target="/ppt/notesMasters/notesMaster1.xml" Id="R56ed5619f52848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bd6029921c4014" /><Relationship Type="http://schemas.openxmlformats.org/officeDocument/2006/relationships/notesMaster" Target="/ppt/notesMasters/notesMaster1.xml" Id="Rc02ac504dd9746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794e0a7b834eef" /><Relationship Type="http://schemas.openxmlformats.org/officeDocument/2006/relationships/notesMaster" Target="/ppt/notesMasters/notesMaster1.xml" Id="R310777f7305444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e7555ed8944d26" /><Relationship Type="http://schemas.openxmlformats.org/officeDocument/2006/relationships/notesMaster" Target="/ppt/notesMasters/notesMaster1.xml" Id="Rc70297a6500c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开场说明：本课件展示数擎数据智能体如何面向教育行业落地。主线不是讲比赛功能，而是用真实教育场景展示产品能力。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讲解口径：本项目围绕教育数据治理和智能分析展开。三个业务实例覆盖教学质量、课程改进和人才培养结果。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现场操作顺序：先在数据资产中展示数据，再进入指标中心和知识库，最后在智能分析页提问并查看执行记录。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操作准备：将成绩、课程评价、就业质量三类样例表提前放入系统。若现场网络不稳定，保留本地 Excel 作为备用演示数据。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现场话术：成绩分析展示的是数擎对结构化数据的读取、聚合、比较和结论生成能力。重点强调结论能回到数据证据。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操作脚本：先展示数据资产，再切智能分析。提问后不要只看结论，要打开执行记录，让裁判看到系统没有伪造结果。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课程评价讲解重点：不是只算满意度，而是把评价分、成绩、考勤和反馈文本结合起来，输出可落地的课程改进建议。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现场操作建议：先在知识库展示课程评价规则，然后提问。这样能体现系统不是单纯调用模型，而是让模型受业务知识约束。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就业质量分析展示的是跨表综合分析能力。讲解时强调指标口径以学校制度为准，系统负责按口径计算并给出可追溯报告。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现场操作建议：展示专业维度的就业质量排序，再追问某一专业的原因。这样能体现连续追问和上下文能力。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讲解口径：数擎不是聊天机器人，而是受治理的数据智能体。结果必须能回到数据、口径和执行过程。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演示安排：主讲负责串联价值，数据同学负责数据和口径，前端同学负责页面操作，复核同学负责打开执行记录和验证报告。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如果比赛允许 1 小时展示，可把每个场景都完整跑一遍。若只有 20 分钟，重点完整跑成绩分析，课程和就业作为扩展能力展示。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讲解口径：评分不是单看界面好不好看，而是看项目是否来源于真实场景、是否有技能操作、是否有可验证结果和团队协作。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收尾话术：数擎不是一次性演示系统，而是一套可迁移的教育行业数据智能体方案，三个场景可以复制到不同学校和不同专业。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e57225f11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85278180d41f6" /><Relationship Type="http://schemas.openxmlformats.org/officeDocument/2006/relationships/slideLayout" Target="/ppt/slideLayouts/slideLayout1.xml" Id="R15de5b8ef981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e5b8ef981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7635e6da94c92" /><Relationship Type="http://schemas.openxmlformats.org/officeDocument/2006/relationships/image" Target="/ppt/media/image.png" Id="Rf1188bab00684bf1" /><Relationship Type="http://schemas.openxmlformats.org/officeDocument/2006/relationships/notesSlide" Target="/ppt/notesSlides/notesSlide1.xml" Id="R001c6fda87e241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56f7ba217481d" /><Relationship Type="http://schemas.openxmlformats.org/officeDocument/2006/relationships/image" Target="/ppt/media/image2.png" Id="R4edf6c0b631e43c3" /><Relationship Type="http://schemas.openxmlformats.org/officeDocument/2006/relationships/notesSlide" Target="/ppt/notesSlides/notesSlide2.xml" Id="R0d670a4511dd47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c33bf79b242d4" /><Relationship Type="http://schemas.openxmlformats.org/officeDocument/2006/relationships/image" Target="/ppt/media/image3.png" Id="R24938300b42e44f2" /><Relationship Type="http://schemas.openxmlformats.org/officeDocument/2006/relationships/notesSlide" Target="/ppt/notesSlides/notesSlide3.xml" Id="R2353df0ae20d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c2490027f4180" /><Relationship Type="http://schemas.openxmlformats.org/officeDocument/2006/relationships/image" Target="/ppt/media/image4.png" Id="R563a4faf4b704a58" /><Relationship Type="http://schemas.openxmlformats.org/officeDocument/2006/relationships/notesSlide" Target="/ppt/notesSlides/notesSlide4.xml" Id="R6fde162c159c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fbbfa7ecc4ac8" /><Relationship Type="http://schemas.openxmlformats.org/officeDocument/2006/relationships/image" Target="/ppt/media/image5.png" Id="R66612a13d9ff4212" /><Relationship Type="http://schemas.openxmlformats.org/officeDocument/2006/relationships/notesSlide" Target="/ppt/notesSlides/notesSlide5.xml" Id="Rc0da214c81f540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99ebac6aa4c8c" /><Relationship Type="http://schemas.openxmlformats.org/officeDocument/2006/relationships/image" Target="/ppt/media/image6.png" Id="R468edf94051e40e3" /><Relationship Type="http://schemas.openxmlformats.org/officeDocument/2006/relationships/notesSlide" Target="/ppt/notesSlides/notesSlide6.xml" Id="R37a4cd1f1af64d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d482bcde049c1" /><Relationship Type="http://schemas.openxmlformats.org/officeDocument/2006/relationships/image" Target="/ppt/media/image7.png" Id="R41bed0dee6e44985" /><Relationship Type="http://schemas.openxmlformats.org/officeDocument/2006/relationships/notesSlide" Target="/ppt/notesSlides/notesSlide7.xml" Id="R130df4aeba6947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7e207e5204c84" /><Relationship Type="http://schemas.openxmlformats.org/officeDocument/2006/relationships/image" Target="/ppt/media/image8.png" Id="R0c38797986ee4518" /><Relationship Type="http://schemas.openxmlformats.org/officeDocument/2006/relationships/notesSlide" Target="/ppt/notesSlides/notesSlide8.xml" Id="Rd17278209c754e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1d83c794b4a5c" /><Relationship Type="http://schemas.openxmlformats.org/officeDocument/2006/relationships/image" Target="/ppt/media/image9.png" Id="R187481301bc84683" /><Relationship Type="http://schemas.openxmlformats.org/officeDocument/2006/relationships/notesSlide" Target="/ppt/notesSlides/notesSlide9.xml" Id="R544ce4b956f948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6757373db4cdb" /><Relationship Type="http://schemas.openxmlformats.org/officeDocument/2006/relationships/image" Target="/ppt/media/image10.png" Id="Rfda9bbf2c2674a67" /><Relationship Type="http://schemas.openxmlformats.org/officeDocument/2006/relationships/notesSlide" Target="/ppt/notesSlides/notesSlide10.xml" Id="Rc88e5fa7129842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607a5de0f4fe4" /><Relationship Type="http://schemas.openxmlformats.org/officeDocument/2006/relationships/image" Target="/ppt/media/image11.png" Id="Racc58548c118477e" /><Relationship Type="http://schemas.openxmlformats.org/officeDocument/2006/relationships/notesSlide" Target="/ppt/notesSlides/notesSlide11.xml" Id="Re48258d955f64c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ef589ab2d4349" /><Relationship Type="http://schemas.openxmlformats.org/officeDocument/2006/relationships/image" Target="/ppt/media/image12.png" Id="R65498b83b16940f1" /><Relationship Type="http://schemas.openxmlformats.org/officeDocument/2006/relationships/notesSlide" Target="/ppt/notesSlides/notesSlide12.xml" Id="R0f5ddd49b26c43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21d25585749fd" /><Relationship Type="http://schemas.openxmlformats.org/officeDocument/2006/relationships/image" Target="/ppt/media/image13.png" Id="R72ef54cd9e16461c" /><Relationship Type="http://schemas.openxmlformats.org/officeDocument/2006/relationships/notesSlide" Target="/ppt/notesSlides/notesSlide13.xml" Id="Rd35dfe2c8c8c4b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e0b2746c241a3" /><Relationship Type="http://schemas.openxmlformats.org/officeDocument/2006/relationships/image" Target="/ppt/media/image14.png" Id="R7c5c81ac9e244521" /><Relationship Type="http://schemas.openxmlformats.org/officeDocument/2006/relationships/notesSlide" Target="/ppt/notesSlides/notesSlide14.xml" Id="Rc77e024818f44f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dda7616f044f7" /><Relationship Type="http://schemas.openxmlformats.org/officeDocument/2006/relationships/image" Target="/ppt/media/image15.png" Id="R536bc707546542dc" /><Relationship Type="http://schemas.openxmlformats.org/officeDocument/2006/relationships/notesSlide" Target="/ppt/notesSlides/notesSlide15.xml" Id="R031a62440f4145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45937-8F0B-483B-9412-8E060C4C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621F9-74FA-4DC4-8148-3F5216EF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2476500"/>
            <a:ext cx="6858000" cy="6858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23850">
            <a:solidFill>
              <a:srgbClr val="174B8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5EDD4-A4CC-4FD4-B01E-467A49F3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" y="4095750"/>
            <a:ext cx="5334000" cy="5334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28600">
            <a:solidFill>
              <a:srgbClr val="123D70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88bab00684bf1"/>
          <a:stretch xmlns:a="http://schemas.openxmlformats.org/drawingml/2006/main"/>
        </p:blipFill>
        <p:spPr>
          <a:xfrm xmlns:a="http://schemas.openxmlformats.org/drawingml/2006/main">
            <a:off x="7429500" y="158115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68E0C-DD26-402A-9ACD-69E2C3D8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727DD-E94F-4C97-A54D-15E67A8C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9B8A6-3818-434F-8988-1CF0BF86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成绩分析、课程评价、就业质量分析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CB37B-6FFA-4223-8B8B-DAF109B3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49026-A4AD-4B80-861A-646CF2F4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用于国家职业技能大赛新一代信息技术赛道路演展示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6E334-2B12-4B88-8194-6F6E73F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版本：2026.09</a:t>
            </a:r>
          </a:p>
        </p:txBody>
      </p:sp>
    </p:spTree>
    <p:extLst>
      <p:ext uri="{BB962C8B-B14F-4D97-AF65-F5344CB8AC3E}">
        <p14:creationId xmlns:p14="http://schemas.microsoft.com/office/powerpoint/2010/main" val="1628603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75ABE-9D8A-4649-A6FA-1E3BAB15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CBFA7-8AA1-4E9F-B1F2-6B19AC2E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6DFF0-4250-4D82-855D-0FEA9D91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7A3C3-3EF4-4B10-A9AF-1E7DDE3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71639-3905-4429-9C14-7C2BC60D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BB5A7-90B1-4946-8E23-34655F9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15FAE-990A-478E-AF59-B3D6274A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f6c0b631e43c3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FA668-405F-4986-91F2-78889D9C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465B1-D464-44DF-BFF9-CD6358C2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01 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3B56F-DF23-43A6-881B-653AE02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路演定位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F8648-D720-4559-B3C9-8B5939D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把教育数据从分散表格转为可追溯的分析结论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544B4-2553-4BC7-BB08-36CCA02B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59ED5-9571-46B0-BD85-9D1E76B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825CE-E83B-449D-A2A7-3B5912DD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013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数擎面向业务人员，核心价值是让提问、查询、验证和报告形成闭环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749D6-E838-48F2-9895-C5F99AE4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0E55E-2832-4662-9626-D7E47347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场景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3032B-A514-46A8-A051-5F28D7DC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338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AB8D7-365E-42A9-BC82-0265567C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767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定位学科差异、班级差异和学生个体风险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B45BA-01D0-4D06-8EAC-76ABB7B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87B3B-8620-4D98-9B7E-9DFEDF5C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671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rPr>
              <a:t>场景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21724-C21A-4786-A20A-7C3AEF9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338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A1B37-8063-49FD-8B6C-BAD533E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767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综合评价、成绩、考勤与文本反馈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DCBE0-5992-4DCF-A500-F6A1A36D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07D29-8F9E-4BE7-8F15-9EAA3FF3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场景 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9BB8C-87A2-4870-946C-BF847B48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338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就业质量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07CFD-B16D-41AE-9213-CC40BA5D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767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跟踪就业去向、岗位匹配和专业建设成效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7C8F8-5182-4ECC-B67C-F52894BF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路演目标：现场操作产品，而不是播放静态演示</a:t>
            </a:r>
          </a:p>
        </p:txBody>
      </p:sp>
    </p:spTree>
    <p:extLst>
      <p:ext uri="{BB962C8B-B14F-4D97-AF65-F5344CB8AC3E}">
        <p14:creationId xmlns:p14="http://schemas.microsoft.com/office/powerpoint/2010/main" val="20189108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66A809-690A-440E-A41D-B53C35B6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A34C1-A044-44DC-9134-C02884AA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97059-0D75-4364-99C6-91DF6C07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7F62E-5711-4CA6-A2BF-FD4C1B2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04539-8719-443C-A8BA-007756CD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AFA70-0577-4FFA-B803-968D1C1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ADA37-A29B-4909-8A5C-11D2C53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38300b42e44f2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72C0C-A011-476C-8455-CB11B3AB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CEDA9-EDCB-4728-B91B-3AEDA73E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02 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A5BE5-8D2A-4635-9CED-5353600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标准化展示主线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1AB03-7CF0-4A50-B336-026FE050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每个业务场景都按同一条产品路径演示，便于裁判判断完整性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CABBB-9114-4B50-8359-7607D5C0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3300B-463C-4E78-8697-F0D7B549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AFD87-59C4-4D00-893A-2359D0E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E221A-0E75-4DEF-B560-FC3BAE90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D0DE0-FA36-4702-81FE-F3976AF4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Excel、MySQL 或业务库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7D83B-F2C0-4053-A9C3-32C85A02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EEE08-61A2-412D-8E14-001C74A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81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2B547-1A06-4B7A-8B81-A94A8345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57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资产检查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F95A6-DAB2-4BF0-B520-51BFE9D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预览、质量、权限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BBE62-EB1F-4A7A-8D5A-8FAC0C67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8DAE0-2E53-4F2E-9A4B-590EB6B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8E9B9-A2DF-4CD0-A86C-A68BAF8C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口径治理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6AF53-3CFE-4C7C-852C-B1FE1EAD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指标中心定义口径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68632-B3B6-409B-8DFA-335F3DB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D728F-6D71-4CD8-A93F-2EBF1F0F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85C71-6FC8-40A1-9717-43563420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知识补充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B5244-E406-4F0C-BF12-863A80A8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业务规则和背景材料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467A4-7917-4A1A-AF2A-1AFB38EF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1FE0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DBA8E-A624-4036-A2BC-BBCB2A0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BA250-DF2C-4674-B41E-00EAC928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A465A3-2FAB-4523-8A11-52B1E6A4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rPr>
              <a:t>自然语言提问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9AD15-4CA6-4641-9D62-0F01B8CB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5A12B4-B50F-4A8F-9F97-3078BD3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81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D89734-C99B-4BFC-9028-531FF2DE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57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可信交付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AE954-AF3B-4165-9967-DFB81FCA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71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证据、图表、报告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23C805-E8B5-400D-88AE-E06FC494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这条路径适用于三个行业实例</a:t>
            </a:r>
          </a:p>
        </p:txBody>
      </p:sp>
    </p:spTree>
    <p:extLst>
      <p:ext uri="{BB962C8B-B14F-4D97-AF65-F5344CB8AC3E}">
        <p14:creationId xmlns:p14="http://schemas.microsoft.com/office/powerpoint/2010/main" val="1071271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69C23B-BBCA-46A8-8A6A-21B8ED44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F140E-EA71-47FC-A8EC-8030580F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DF618-F004-4310-9DB8-D71634A2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37F7E-4C29-4D4E-A534-2DF6B86E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83648-FE1E-4E0F-93F1-3A75B18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7022B-3BC2-4FB6-A678-D3FAB40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FFC4D-7000-482E-8DCB-ED4AF64A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a4faf4b704a58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DE246-D184-4E61-8166-676ADFD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21624-6653-4BC9-95FC-83A6718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03 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C5EDE-19A0-4B20-9BDA-1B3AED1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数据准备清单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4FDC1-C438-458F-9178-7A577F44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路演前准备四类数据，现场按需接入或选择已接入资产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23347-B9EC-4292-9047-060DF19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2F59B-369B-4427-B7BB-8F15483A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1FF14-80BD-4C9E-8996-590AF2B2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数据域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5FF65-B25E-44C7-99E5-D4A278CB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90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7238F-DE76-469B-9728-5EFA136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示例数据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8AFE1-1AB3-477D-BA0F-79BAAEE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2E9A0-97A9-4723-839E-15151051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关键字段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46E6F-7499-4AF5-B1F0-55EDC328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4B099-BA4C-4F12-83B6-6F4E832A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展示用途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D6DA4-0119-4349-BDE8-640772E8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4023D-169B-420A-883F-6289130E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393A8-CCB0-46DF-A483-79356720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098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5003C-D7E0-4EEE-B430-82BCBE5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学生成绩、班级、专业、课程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B9289-847B-4CEA-A51A-560E4D7A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042B6-84A8-45E8-9E87-5923D095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学号、课程、分数、班级、学期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07A8FC-3362-4FBC-A457-BC3832B2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83FD7-3BD0-469C-8D19-724312C7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成绩分布、排名、学业风险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A53CD-C4E1-4818-850A-43A925EE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2FA3B-8A2C-458D-96F0-050103D1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4CF566-DC55-4B25-A94C-19C91D6A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12B272-B592-468F-99B6-F218C47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课程评价、考勤、通过率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E81671-03A1-4A52-B69A-D01F4788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A997B-00A7-469C-92F1-9221856A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课程、教师、评价项、评分、反馈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4B67FD-06AD-47B7-8E4D-AEC7C0E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655F57-40E5-4E35-AC28-5FC3C64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课程画像、教学改进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EEBFDB-D9E3-40F9-80E8-C32CD0B2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85B94D-B563-4A98-BFC6-3BF37BA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BB7D5-0B63-41D6-8346-EEAF97AA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814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C2C102-6865-454C-BAC4-1473D884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就业去向、岗位、薪酬、企业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7EC992-CAD2-45A8-B67A-F3B313ED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814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DBA5D1-C1E0-4FA3-8EE9-40627420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148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专业、单位、岗位、区域、薪酬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FD0E17-EEB8-4A10-8E1D-3168E79C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1C049A-DD09-4BF8-BEDA-36AC81D5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就业质量、专业匹配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B306B7-F682-40A5-9C85-602D46C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00CCD6-E7C7-4F3E-BF48-3798C1AD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知识域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151D60-3B12-48EB-A173-9A86FAF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672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34830B-1017-47AE-813E-2714F15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评价规则、指标口径、校内制度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9DD500-6BDC-4CB2-93D9-E6CB36B9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67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1130AC-7FED-4B8B-907E-70C2576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006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达标线、分段规则、统计口径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EEBD1F-0EAF-4142-9786-09071CF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19431B-3DD2-49B3-8236-AB7431C8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解释结论、约束分析边界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7A80E5-D9B2-4E25-87D6-9C32DBC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建议准备 Excel 和 MySQL 两种来源，体现数据接入能力</a:t>
            </a:r>
          </a:p>
        </p:txBody>
      </p:sp>
    </p:spTree>
    <p:extLst>
      <p:ext uri="{BB962C8B-B14F-4D97-AF65-F5344CB8AC3E}">
        <p14:creationId xmlns:p14="http://schemas.microsoft.com/office/powerpoint/2010/main" val="1557239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686DC-297A-4CF4-987F-19D24C30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01E3F-A906-4F37-A222-DB6FCC31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44003-9CF8-4C8B-B3FA-EE431191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5E03A-9DBA-4DF2-B4BF-2B9D9BBA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E5018-00FC-41D3-89AD-1C885A64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B42A8-7083-422F-8C47-FACCFACD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F6AE9-17EA-414B-80D9-49B93B66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12a13d9ff4212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D39D4-FF26-479B-987A-047EFE23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354C9-7C55-46BA-B788-B9D82808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04 场景一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4B788-1B2A-4136-97C0-1416821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成绩分析场景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75213-DC2C-483B-90A2-4B17DB0F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从成绩分布看到教学问题，从个体成绩定位帮扶对象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2638B-402B-4E2F-B301-277C90F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87896-4687-476D-ADA1-D4C3C254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2C9E-AF00-4EF9-BECC-24379DC4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022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演示问题：分析语文、数学、英语、历史、政治这几门成绩分布情况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6F5F2-10AE-40F2-8A65-AC13E495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E723C-824F-45A8-9839-FCB5A6B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E454E-C290-4AEB-8751-E9D1890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7C0C3-E82B-4704-A5CF-AFD3FD5A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看整体分布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FE3C3-9C8C-44D4-9A6A-D2752677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平均分、最高分、最低分、分数段和离散程度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08E92-CEB3-4A00-8772-56A2C9B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5C346-0692-4102-A6DB-6D04340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F4FA8-AF51-4550-947D-2D56F97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0A18CD-DCEF-460F-B038-8574FEE8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看班级差异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1EB1D-691A-45FC-ADED-AEA1FF4E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比较班级平均分、排名和异常课程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0D048-DC10-4B85-8A34-D64E2E47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6DD3A1-7920-4BA0-B232-2639A1A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255497-3D1D-4E6E-8620-C5791896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107D7-699C-4785-808C-76BFBEA6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看学生个体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40310-4C32-4194-A65E-CCB4761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查询指定学号的各科成绩和班级位置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77F26-16E1-425A-A83D-ADAAC1DD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606004-7253-438D-A14B-D174FDA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F0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C40A2C-0BFB-4AA3-8349-4F8DBFC3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5F3D56-1696-4753-B8E3-1F669F75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形成教学建议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3D67A4-305A-4895-AC35-65AF5AFF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输出薄弱学科、关注学生和后续辅导建议</a:t>
            </a:r>
          </a:p>
        </p:txBody>
      </p:sp>
    </p:spTree>
    <p:extLst>
      <p:ext uri="{BB962C8B-B14F-4D97-AF65-F5344CB8AC3E}">
        <p14:creationId xmlns:p14="http://schemas.microsoft.com/office/powerpoint/2010/main" val="1781758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6BE74D-429C-4CAE-AB63-E781984A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03536-F140-44AD-AA53-32FB0D96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54D0D-C705-436B-ADC6-8424A160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5FE3E-2959-48A4-B584-02C6606E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E2CEC-0650-4AA8-BAC6-3978E2B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0D8CD-2E4A-4ED3-A96F-E5D795D1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D5AA8-BF80-477A-A55B-199A6A7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edf94051e40e3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2C80A-4B5D-461D-819C-99EAFA25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2399A-9004-4257-AF35-EC39B9D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04 场景一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2877C-7B36-4564-AA51-598911A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成绩分析操作流程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7799C-BA10-4041-AD1A-4823F714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现场操作以一条问题贯穿数据选择、执行记录和报告生成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1926A-0A37-4E38-9410-EE966506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CA226-ECA1-4389-8088-32AFC4ED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A11A8-2799-40A1-BA67-29D0A03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2724E-FC58-4D41-977D-66827E87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AE63E-E117-482F-9F20-8729A0E0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选择数据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F7DBA-314C-4055-80B7-B33601D7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574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进入数据资产，选择学生成绩数据集或学生库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DBD51-EECA-4719-A0AC-421D7011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09B6B-2C15-45AF-A786-3844E49B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939E5-C14F-4A11-AFC2-E9205F33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72DCA-0993-42B1-B565-BF4E6B7B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检查字段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6D7D61-B34C-417E-8F07-D38B5B97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确认学号、姓名、课程、成绩、班级、学期字段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FA494-D114-47E4-907A-AB3E6A3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A4AF5-6A96-40D6-9ABE-9B77581F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67243-CAEC-4686-89D5-1EF5680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D4042-A01E-436B-8602-C21FA9CF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确认口径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57EAD-9D17-436E-BB64-F3EED14F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在指标中心查看平均分、分数段、班级排名口径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D64F2-0FC7-459E-9ABA-33340B49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6E09E-A6AF-44A7-8371-CAE9F10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04376E-09B4-47F4-AF85-585C5A39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9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62BA56-3E4B-4DDE-AD49-32D8143C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62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发起提问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88932-F4E5-4DFF-A413-BCD8608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574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在智能分析输入成绩分布问题，绑定当前数据源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1C794-625D-47D1-B007-C984824F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24827-AD5F-4BBE-BA7A-64F71552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24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329DEF-7232-4BAF-A42E-C039C861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77CE20-B623-42FF-978D-0E593AF2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861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查看过程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B4AEBC-2A58-4015-B3F2-7769EBA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展开执行记录，查看查询、验证和证据单元格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9A463A-8D6D-430A-A759-63C8AFC7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386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143943-A076-4EF0-86A1-123C289C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956C03-8BEF-483F-BF3C-BE5EDA8E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43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62B272-2683-4B3D-90E7-41A450B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交付报告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DDB318-7CA1-4A45-AF2D-7816ACD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053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切换到详细报告，导出教学质量分析材料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5898B3-73F5-4B80-9479-D129B87C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推荐现场问题：查询学号 24040850102 的学生各科成绩，并和班级平均分对比</a:t>
            </a:r>
          </a:p>
        </p:txBody>
      </p:sp>
    </p:spTree>
    <p:extLst>
      <p:ext uri="{BB962C8B-B14F-4D97-AF65-F5344CB8AC3E}">
        <p14:creationId xmlns:p14="http://schemas.microsoft.com/office/powerpoint/2010/main" val="7633508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48EB3-2052-4F9C-AFD0-305E0C23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D2A13-8537-4DAA-94BA-743AF8C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84B8D-5B40-40CF-8AED-819D059E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1FD9C-7571-4077-B628-932CBC8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7A3CD-B13F-4F93-AB1F-16AE01AD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19A0E-96BE-4D90-935E-1A2C4A28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D0595-0DBD-400A-AABB-12D3680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d0dee6e44985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4A684-1AF2-426E-8AD1-B8F40A60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6B72D-D415-4A71-9A30-16D4399E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05 场景二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18F46-CD17-4362-B568-478A0ABD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课程评价场景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01621-A5CE-4E2C-9417-91B50D8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把问卷评价、成绩结果和课堂过程放在同一张课程画像里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F8734-9778-42C7-9C99-A25C3E14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F6109-2BD5-45E8-9807-7A660CB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66EBF-8002-4505-BF39-8D6734B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022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演示问题：找出评价偏低课程，并说明主要原因和改进建议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0EE2F-29D4-4E34-9253-0B094795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B2886-086B-4E04-8D9E-DDEBB9D6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分析对象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CF8EA-8FFF-41DE-BEC4-4DEEC562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课程画像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60771-7D22-4DAE-8F90-055FC3B4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课程满意度、通过率、出勤、作业完成、文本反馈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BC8D3-318F-4EB5-A1A6-CFC41CC0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0D387-24A2-4901-AB5E-E44FB8DA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C7AE8-16A4-4FDA-96BE-6BEB7849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147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问题归因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6977B-74B2-478A-85B9-1187FEBB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区分内容难度、教学节奏、考核方式和学习支持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D5A92-7C76-47C0-9F89-856E8F2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99B06-C99A-45EA-B3D5-14482DC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交付成果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2BE25-61D4-492D-90C9-CF7728E6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改进清单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D94AC-62F6-4969-AC2A-F523707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按课程输出优先级、证据和可执行改进动作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CCA0C-FD87-41A0-81F5-0440C95E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课程评价场景强调“定量评分 + 开放文本 + 业务规则”的结合，适合展示知识库检索和指标口径解释能力。</a:t>
            </a:r>
          </a:p>
        </p:txBody>
      </p:sp>
    </p:spTree>
    <p:extLst>
      <p:ext uri="{BB962C8B-B14F-4D97-AF65-F5344CB8AC3E}">
        <p14:creationId xmlns:p14="http://schemas.microsoft.com/office/powerpoint/2010/main" val="974446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3B2910-3100-42A4-AB2C-3D6EAE8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B9DB0-E977-4D7D-B8C3-A10BEFA2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D7CE8-7210-4418-BF90-CD8B599F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6078B-E279-4AA7-8456-E6F2211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68075-4571-49E9-8781-E768412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02C5F-3AD8-4D2A-A16A-5061BC94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67BBF-27A2-469D-BA97-1700BE2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8797986ee4518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538AB-2B95-40CC-81BB-8028EB80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B24BB-E1F1-4D63-95B8-81C9F11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05 场景二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E3BE9-2C35-4294-AB1D-7AE517B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课程评价操作流程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6311E-99C4-4EA5-8C35-6856C22F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课程评价展示指标中心和知识库对 Agent 的约束能力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79F66-5D23-48FE-9470-920532D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91488-902B-442B-940B-9815D42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2C108-D94D-4CA2-BD9D-08DC070F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3974C-2919-4C01-B861-35DAEDD1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00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接入评价数据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575B1-5A13-4169-A0BF-E1D65435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193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上传课程评价表、考勤表和课程成绩表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1B0D8-D622-4860-80F0-24B24A15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A545E-54D1-4F18-97C8-22224950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11E15-030A-4A45-9C68-848AB842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09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建立课程指标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2CF92-30D6-42E8-95E1-D279A2C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89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定义满意度、通过率、到课率、反馈热词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FD6CF-8844-44E8-AC6B-7D8B2211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BFE83-6224-40DB-9284-0882DAE5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9BD56-F723-49B6-B7EF-D90E6A9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19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导入业务规则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04DB8-F1B9-4E4E-831E-D0094363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385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在知识库维护教学评价维度和改进原则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5534C3-FE20-4B4A-AD28-62B4DEA6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E0E6"/>
          </a:solidFill>
          <a:ln xmlns:a="http://schemas.openxmlformats.org/drawingml/2006/main" w="9525">
            <a:solidFill>
              <a:srgbClr val="1F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7E318-56A2-4870-BDCB-CED320E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ED13E-32F9-4A84-A948-B694198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29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提出评价问题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D141B6-7DDD-45A5-96A9-4F164C6A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rPr>
              <a:t>询问哪些课程需要优先改进及原因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6C6019-8E03-4145-9638-515FCFC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E9C71-6E3C-48A1-BBDB-DC469570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B2AAD-9306-4EC2-934D-BE3FB90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386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核对证据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8B684-14FD-41D9-8A76-10F13AD1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577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查看引用的评价项、分数、样本量和文本证据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F34802-62FA-41FC-9BDC-B54B732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B36060-7D89-4B68-B553-7ECC3AEF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CD16D-0C8A-4407-BF17-E06459A7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48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输出行动建议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61D004-7E4F-46DC-9A44-A4EE72E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673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形成课程负责人可执行的改进清单</a:t>
            </a:r>
          </a:p>
        </p:txBody>
      </p:sp>
    </p:spTree>
    <p:extLst>
      <p:ext uri="{BB962C8B-B14F-4D97-AF65-F5344CB8AC3E}">
        <p14:creationId xmlns:p14="http://schemas.microsoft.com/office/powerpoint/2010/main" val="1967736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FB594-62B6-4E62-9182-24AF36C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9E94F-A9FF-46DA-88FE-665AE836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3F0E7-E6F1-443C-94E4-715DD553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1FD3B-49A1-4E7D-9185-DB5E5D0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F0730-164F-4CF8-B3C1-BDC7F08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74A01-7E71-4229-BCD0-E359038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B1836-1D17-45A6-853D-88E43A2D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481301bc84683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6A9AC-6C3E-4E5E-8D39-81BBC3D0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AA660-308E-4410-9D26-DD600E7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06 场景三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F06BA-3950-444D-B3BF-F1EC4071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就业质量分析场景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8666C-666C-4232-A346-BE3E5152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用就业结果反推专业建设、课程设置和校企合作质量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90E94-BB31-4B5E-88FA-A2A20D92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65FAA-9AC8-46ED-8470-B215E87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CE02F-78ED-470B-9465-F807FA4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022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演示问题：分析各专业就业质量，找出岗位匹配和就业稳定性较弱的专业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F0C6B-8AE8-4FED-ADC0-7CD59CEB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700C3-14E4-44DE-93D0-89C4713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609E1-F274-4C40-9246-57512DA8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35B34-3E2C-4E39-AD4A-EC012005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就业去向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E76C8-0941-46E0-ADDB-039F581E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就业、升学、参军、自主创业等毕业去向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1A7E9-5F73-49CE-AA6C-06A3C5D0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D9F1E-2053-4E46-916C-B021910A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44079-AC87-407E-AB9E-1280895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0ECB7-1D20-4A49-BB0F-9E3AA81D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岗位匹配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36A0C-7B7B-42D6-94B9-A87ED770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岗位名称、专业方向和课程能力要求匹配情况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2BDF7-48F9-4CB3-9C5E-8201BD9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C2D10-3D0B-4EA5-B339-0B9982FC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6D853-552B-44AF-BF35-381E057E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9CDC7A-B86A-4114-B848-49238F60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质量指标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8C7545-6F27-45B4-BDB0-6A7A39C8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就业率、对口率、薪酬区间和区域分布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8C32BC-1DFA-4875-995B-D0FB2FE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52910-E2B8-4905-8B23-AFE79FEE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F0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BA1155-A791-40F1-91B9-ED697BC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DFF74F-DB6E-427B-8FBD-A0C26A40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建设建议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670AC-365C-4615-9766-DD2B19AA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专业预警、课程优化和校企合作方向</a:t>
            </a:r>
          </a:p>
        </p:txBody>
      </p:sp>
    </p:spTree>
    <p:extLst>
      <p:ext uri="{BB962C8B-B14F-4D97-AF65-F5344CB8AC3E}">
        <p14:creationId xmlns:p14="http://schemas.microsoft.com/office/powerpoint/2010/main" val="425097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279A99-D737-48B1-9C1B-3D6EEB6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C1BB6-2DDB-49BB-9FB2-F4F8386D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B82DF-B4F3-4FD8-A6C2-83BD7B6F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FC710-1758-40FD-9B34-A8EE276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C49DE-7CA3-4FFE-B7BE-327678C7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908D1-5B67-444E-BB33-9D900E5B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49EAD-0EE3-4939-B8CD-51110806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9bbf2c2674a67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6C15-9D04-4C78-A586-DF8B9BD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E8330-4446-4B02-8C79-6808A2C9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06 场景三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2CF15-37F2-4977-B91F-033D60B2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就业质量操作流程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1A347-2A60-4E17-A8BD-67EBB967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就业质量场景适合作为路演收束，体现应用价值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3015E-691C-445A-94F9-C24CA09E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6BAD4-FA33-4C7C-8750-655EA908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97A64-804A-4181-8A4B-6F63AD4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DA383-9DB3-43C4-9E26-2C133EB4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1DF5E-F36E-4748-A376-94BF63FF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准备数据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21039-D882-4AEA-9069-AC5EBAD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622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毕业生基础信息、就业单位、岗位、薪酬、专业和课程数据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FAD3F-AE42-4BB7-AE9B-B07442C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072F8-D4BE-48A4-AD13-39247E4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E3237-B321-45D5-83BF-62BA343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9BA45-5D13-4CB2-8C8D-1F9E4FD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配置口径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74302-23F9-498B-A04C-86F2E06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就业率、对口率、稳定就业、重点单位等口径以学校规则为准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16B98-79EC-4289-8049-63FE2DEF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755DF-ED57-4E29-A4F7-728389C2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BA744-DB15-42D7-BBE2-2E1D24A9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B152B-349B-471D-98B2-E0ED62EA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选择维度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DDD47-68D7-4327-BB96-3E672EB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43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按专业、班级、区域、单位类型和岗位类别分组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27FF13-BF6A-422D-AF8A-A2B0080D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162EA-B9FC-4C6A-B391-F2E20E79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37CEC-C941-48A9-B0DB-DC26376E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686FF-6DB8-487E-B930-F78BE6C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发起分析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1D1BE-C6B6-41DC-9A0B-FF42E97D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3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输入就业质量问题，要求输出专业排名和风险说明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4A6B2C-48E4-4442-A1FB-CC94F3D9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369D8C-26F3-4FE8-9B0C-19CC57AD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49687D-E476-40C5-8574-1E185911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964E90-3686-48AB-9E87-30F05A63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复核结果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C07814-F695-45A6-AE90-D5E5179C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244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核对计算字段、样本范围、过滤条件和证据表格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C7E51B-8800-45A5-9064-54EBCF2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577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5A0057-C01A-4404-989B-DC8F112D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94B8E9-D4EC-41FA-B80B-95901195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12995E-E0B0-4F75-9610-E3784EF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形成建议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5A2178-4969-4AAD-8393-4681629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244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输出专业建设、课程调整和校企合作建议</a:t>
            </a:r>
          </a:p>
        </p:txBody>
      </p:sp>
    </p:spTree>
    <p:extLst>
      <p:ext uri="{BB962C8B-B14F-4D97-AF65-F5344CB8AC3E}">
        <p14:creationId xmlns:p14="http://schemas.microsoft.com/office/powerpoint/2010/main" val="7995411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0E4C76-EFB5-4CDF-957C-1BE46AF9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E7639-CA3D-4222-803F-515AA0A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5D9CD-D1A9-4E5A-9F43-606C0B24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12965-6355-45A0-A8E2-C5D3E2DD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2632A-F5E0-4ED0-AAF2-3411093E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551F0-BAA4-43DF-A38E-1C2CF96C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ABD59-2CBD-44EC-8141-13080C9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58548c118477e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04747-285A-444F-A97E-0C2AA1F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9C30F-C20C-4312-856F-D3C98F7E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07 可信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B2C43-D837-454F-B6E5-57BA299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可信智能体机制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5DA21-B2AB-463F-B93D-1D0603FB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大赛展示中要强调系统不会生成未经验证的成果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253DC-9325-4FBA-8884-4223B59A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4B06C-4456-4347-B03C-9C5C879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5CBFA-7D36-4C59-9B3E-B5B54A3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能力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83C92-D6BD-48D1-B16D-C4A521F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受控数据接入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27D44-7665-465F-B37B-11C632B1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数据源授权、表范围限制、只读查询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D6BF1-764D-4F00-98CD-034978DD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FCC96-90D8-4801-82EC-08F3C833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能力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E3E4D-8AEA-414A-8951-77579401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语义口径约束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CC049-3C0A-40F7-B24C-80340568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指标中心定义字段、维度和计算口径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C0382-5F24-48F0-9309-BB5C505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DCFDF-F633-4264-B312-51C994DF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能力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8FA2C-E9F1-4627-A39F-B979432D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执行过程可见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4CA5A-C25B-480E-A317-02891C35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问题拆解、SQL、工具调用和事件记录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5E91C-101C-4724-BD77-ABAFE53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05269-6FFF-469B-B0FF-F6D0FDC6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能力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34ECC-9201-46F5-BA25-CF9DD99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发布前校验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76F514-5A00-4A39-AB44-4A4D27FF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证据不足或工具失败时阻止导出成果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BEE98-D687-4482-9B99-4E30885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现场演示要主动打开执行记录。评委看到的不只是结论，还包括数据来源、计算过程和发布校验。</a:t>
            </a:r>
          </a:p>
        </p:txBody>
      </p:sp>
    </p:spTree>
    <p:extLst>
      <p:ext uri="{BB962C8B-B14F-4D97-AF65-F5344CB8AC3E}">
        <p14:creationId xmlns:p14="http://schemas.microsoft.com/office/powerpoint/2010/main" val="19911735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1246BE-FB2B-4EDC-9E51-30683D17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EB94D-8864-475E-9543-0A56159D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D4FC6-DFBE-464C-9138-19299E18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82726-53E5-486E-8496-1DE2B5F4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477C7-936B-4176-B356-A73D5A1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FFE07-3E3C-4C1B-A3DB-EAC5D2D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FC5D3-A128-436A-9441-D8B453A6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98b83b16940f1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3B00D-9443-4A3F-A821-89FD1A85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BAAB9-8837-41C8-8A19-D0C548B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08 组织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C3FA4-6B30-4515-8E03-7A4610B5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现场角色分工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83A0E-B863-404B-A35C-B753D592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四个角色对应真实工作岗位，展示团队协作能力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AB2E4-5F05-4DDC-8626-BCB45077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A429F-3647-40C3-BB45-DAD4F9D0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E9FDA-7723-4477-A8E4-BCDD8030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2E017-2196-450C-AA6B-B2A8DBF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产品经理 / 解决方案经理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16438-CF50-41E1-9FE2-CA31C05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说明场景、痛点、产品价值和演示主线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E91C6-ABA9-4DF9-B7C3-AC3D70B9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EE571-77C6-48AE-984C-0081B9F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07E1C-A35B-44C9-9819-F909DE61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数据工程师 / 数据分析师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6F138-4929-4D1D-A24E-9B47A11E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接入数据、解释字段、维护指标口径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07965-6354-4B87-A7CB-85A0C4F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86986-0A19-4CCC-A990-B2ACE013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3DEBA-62D6-4D0C-AA13-7AB01872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前端工程师 / 全栈工程师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DA224-02EB-4D1C-8BD2-F1C54D7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完成系统操作、提问、图表和报告展示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28120-69A1-4992-8E58-ADCF457D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65470-12DF-4F9B-AE24-A6B22AB2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FBB6A1-F8EC-446E-93FB-0A9A6FC9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测试工程师 / 数据治理专员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D5867-D7D6-429D-B2DD-1AA74224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核验证据、权限、失败保护和报告可信度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E29BE6-78CF-4BD0-99B2-EA550198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建议每人负责一段实操，避免全程由一人演示</a:t>
            </a:r>
          </a:p>
        </p:txBody>
      </p:sp>
    </p:spTree>
    <p:extLst>
      <p:ext uri="{BB962C8B-B14F-4D97-AF65-F5344CB8AC3E}">
        <p14:creationId xmlns:p14="http://schemas.microsoft.com/office/powerpoint/2010/main" val="1896233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3C6A61-0117-40FA-B724-FF9A4907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60078-6F17-40D9-8003-36A1DECD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91045-3EE0-4CD9-9679-88768D3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50899-662D-469B-B00C-17C348F1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2E2AD-BEE9-44EC-8412-ECEF84E1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B8F61-5084-4FB1-B779-06BA1034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F1F46-76C2-4B44-B2B4-63C4946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f54cd9e16461c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E498B-05A2-46FA-8A6A-C59863FB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8D2CA-DAA6-46CE-824A-1D148519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09 脚本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DFE00-EA59-4D76-BA21-63DF96F2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20 分钟现场演示脚本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C92FB-BE2D-46D8-B5FA-47923860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时间分配要服务于实操，不要把路演做成纯汇报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A5217-66CB-4D82-9312-6D21F3F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DA5B4-5E7C-4A9E-A5C2-3FAFEEF8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CC9E9-5825-4C5D-A6FF-CE3D04C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326EA-E53D-47FC-B9A4-E6CEBC60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8252D-1DD6-4E22-8A5D-9558590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 至 2 分钟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51591-A0F8-4A5E-B7E2-911439C4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业务问题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EF5E9-DE03-49D6-B8A8-E8712854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说明教育数据痛点和三个分析场景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566EE-D2C7-4FB7-BFAA-2315E87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B5BB7-0726-4C26-A492-1B92887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A2298-9477-4AF1-85F5-455C9EEF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D7314-F0C8-4920-BD8D-F78DAA3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2 至 6 分钟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BF738-4E8C-4540-9BED-E81B2B0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4839A-CF99-43CF-993F-14622ED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展示数据资产、预览和权限范围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31C4B-34F3-4DEA-BA7A-BE6A9D2B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95662-FD60-4E05-970C-2F18DF08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C876A-1815-485F-9FA6-65F4CF73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9E51B-EF3B-49F2-90D3-C70C1C0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6 至 9 分钟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D1FEC5-9258-4005-BAFC-9A0E7400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口径治理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02B47-AC76-4ECD-8C85-F4CD301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展示指标中心和知识库规则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8AC244-2DA4-424C-A4F2-AC08AAC2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E8E969-BD88-403E-AD5E-02CA9D64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75CA02-3667-4CDB-B28D-3E5A52E4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EC2896-B7B3-4FFE-A945-356B3A7A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9 至 15 分钟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2B209B-DBB6-4D48-93DE-29454F2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765597-6266-450F-AC2D-6849F90D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完成成绩分析并查看执行记录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FCE39E-1679-4C56-8652-EC86218E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DC1A21-F7F3-42E7-8065-2D72BB26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54A8D9-8DA3-4E89-94AD-5F1B62D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5E2F9C-F596-42D8-A9CF-3C34A4A7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15 至 18 分钟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00A95A-BA87-4870-BCB1-1A15F99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14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BEF36A-18C6-4563-8D40-F335D2D6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快速展示课程评价和就业质量分析路径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DAECAC-907A-4A80-B58B-E20EDB73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590F0C-EF53-4199-932B-F50BAA4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911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A0286C-71AF-4BF6-B88D-AA46251F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2D561B-0CDA-43CD-8D8D-DB29A08C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18 至 20 分钟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A4E8BE-DC12-404A-B747-61F6340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可信交付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57D2E1-0AC5-4B64-875B-1D6B62F3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展示报告、证据和失败保护机制</a:t>
            </a:r>
          </a:p>
        </p:txBody>
      </p:sp>
    </p:spTree>
    <p:extLst>
      <p:ext uri="{BB962C8B-B14F-4D97-AF65-F5344CB8AC3E}">
        <p14:creationId xmlns:p14="http://schemas.microsoft.com/office/powerpoint/2010/main" val="704532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77F1E-E41F-453B-A0B2-E6DAA635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B2177-E739-405D-B258-5FB30466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14D7B-C899-4BB5-AF3F-5A10113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14ADE-DB37-41F7-8481-F8AC9ED8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AABF1-3DDF-42BB-B192-1B182917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56012-60A7-4F83-AD5F-F3A2674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1FE9F-CB54-40D0-B97C-FCF9D58A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c81ac9e244521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89105-9776-4AC4-A7A7-43BFC903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4FF50-7636-4C2E-9C16-B0C401C8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10 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2C3DF-9F7A-4637-9F65-6F2815B4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评分关注点与展示证据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BA3C8-7C53-4905-8FDE-E715DE1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把裁判关注点转化为现场可见材料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2F2D4-D882-4E83-95D6-0DFD508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CAB59-8244-46AC-A1C1-5E99AAC4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3D77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72C76-ED6A-447F-841F-8342AD8B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技能水平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33935-2C27-40CB-B17D-236DF95F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现场数据接入、SQL 生成、执行记录和报告导出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B9C2C-F083-4127-9F2F-3E1AB275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68ED8-834F-4EE6-AD13-85337494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CFD2C-5D1C-4A5A-BB48-F9835A0B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教学质量、课程改进和就业质量三类真实问题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8F8E0-D333-4C7A-AA1C-D80A7908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6C092-B890-4106-B914-1773AF05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职业素养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C226F-EE69-4A42-9B80-4B841EC4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权限、只读查询、审计记录和知识产权说明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2E6B9-7A52-428E-B425-7E31450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43371-F899-46BF-91F5-50E591B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团队合作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911D5-8B16-47E7-8551-D10F630E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主讲、数据、前端、复核分工清晰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9144C-6A0F-4221-B490-4C96F88E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6C0AD-D7CD-4990-A629-AA232C2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创新创意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7752F2-BC14-4B06-A4B7-7D13A6E1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指标中心、知识库和可信 Agent 组合应用</a:t>
            </a:r>
          </a:p>
        </p:txBody>
      </p:sp>
    </p:spTree>
    <p:extLst>
      <p:ext uri="{BB962C8B-B14F-4D97-AF65-F5344CB8AC3E}">
        <p14:creationId xmlns:p14="http://schemas.microsoft.com/office/powerpoint/2010/main" val="18733366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88B1D-06DD-4B2D-9510-5267AA0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8BFEF-5B0A-4879-A52D-11BD1B7E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2381250"/>
            <a:ext cx="6858000" cy="6858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23850">
            <a:solidFill>
              <a:srgbClr val="174B87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bc707546542dc"/>
          <a:stretch xmlns:a="http://schemas.openxmlformats.org/drawingml/2006/main"/>
        </p:blipFill>
        <p:spPr>
          <a:xfrm xmlns:a="http://schemas.openxmlformats.org/drawingml/2006/main">
            <a:off x="4857750" y="952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B14A7-1DC7-43D2-BFF0-74AFE33F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一套产品，三类教育场景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E4831-B105-4AE6-B83F-956B57B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成绩分析用于发现学业风险，课程评价用于改进教学过程，就业质量分析用于验证人才培养结果。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AC955-3B8A-437D-AA96-8525311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数擎 Data Agent：让每一个分析结论都能回到数据证据</a:t>
            </a:r>
          </a:p>
        </p:txBody>
      </p:sp>
    </p:spTree>
    <p:extLst>
      <p:ext uri="{BB962C8B-B14F-4D97-AF65-F5344CB8AC3E}">
        <p14:creationId xmlns:p14="http://schemas.microsoft.com/office/powerpoint/2010/main" val="2069185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2026-09-21T11:44:00.5030000Z</dcterms:created>
  <dcterms:modified xsi:type="dcterms:W3CDTF">2026-09-21T11:44:00.5030000Z</dcterms:modified>
</coreProperties>
</file>